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1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3" r:id="rId26"/>
    <p:sldId id="284" r:id="rId27"/>
    <p:sldId id="282" r:id="rId28"/>
    <p:sldId id="279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1" r:id="rId45"/>
    <p:sldId id="300" r:id="rId46"/>
    <p:sldId id="302" r:id="rId47"/>
    <p:sldId id="303" r:id="rId48"/>
    <p:sldId id="304" r:id="rId49"/>
    <p:sldId id="305" r:id="rId50"/>
    <p:sldId id="306" r:id="rId5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10" y="-10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DB1CD-A8C1-4E0C-887A-F06B08BC6700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69269-F360-4DD7-B8D8-8912FF4A3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667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39F5EC-05CC-413E-B524-7705A9CDC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437136-FADD-4816-BED0-B765F1A41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04DE59-C4C0-4639-BBC2-FE8374223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1420-0079-4778-A8D5-00B3590EB3F4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35D80C-ED59-4013-A769-72978F83C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2231D5-3BDE-439E-B23C-5851B810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36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18BE0-6631-40DC-AAFC-15D8A212D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C5167E-5018-497F-8397-4E3F8E15A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CEFFDF-3D0A-4908-8301-7EBCB3FA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8E02-91A7-4E3C-911A-7E5E1B4E2608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8EECAB-7954-4882-BD75-7271C538B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06C05D-C75D-455C-A3F6-BC231CB6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708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97C6F5-ACC8-4FF8-9B7A-02D82D82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A9EF47-C72A-48BE-912F-33FBEFE60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66BE08-2661-480B-8B3D-9EDB64336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37AA-4E51-423D-92EA-396E25D24282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7C1C0D-5914-44CC-B207-2E2083699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23C49F-8BCD-462E-AC02-ECD8AD81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69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6477E-749D-42EE-B0ED-DC475A25F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086D0A-48C3-49CE-AEAF-6A6DD2EE9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FB6E93A-CDD1-4778-9964-99DC4639E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8E43F5-9CF0-4D7F-8C8A-1D73B457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426D0-784D-40E2-AE61-8BB40FC19CE2}" type="datetime1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C85059-1B86-4F60-8201-DEC14F221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87E1C6-1BEF-4DDF-8424-84A3FDA4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57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92A866-E646-4AEF-B2BF-5A0FCAE72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797830-6EDE-47D3-B592-B8FE837C5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292E20-210F-4E18-BD95-FC68E8926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BBD2D07-3F11-4465-881B-BD82AFFF4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E1FDF2B-C3B0-459D-9852-D0C567DB7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2104FF6-31A4-4C48-9A5B-3ED69689A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1EE7-6A64-439A-90CC-288CF097F13E}" type="datetime1">
              <a:rPr lang="ru-RU" smtClean="0"/>
              <a:t>05.10.2026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0FE2BD-1226-40C1-9769-4D658BFE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EC0998A-9161-44E7-8840-41D2224FA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36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7337F6-DD78-4D32-B10E-7D7016EB4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69E8CED-B79A-45A3-99FC-783C3F2E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1551F-67E4-4450-A867-3933186E9DF5}" type="datetime1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B6EEF7-2032-4C78-BBBE-1095A5C4F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2762A7C-60CF-4E65-8333-40707ED3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61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51F7202-CA40-4D61-8554-2F7CE77E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8250-5222-4CCA-8582-39EE4B3385F8}" type="datetime1">
              <a:rPr lang="ru-RU" smtClean="0"/>
              <a:t>05.10.2026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2672ADE-C3FA-42D2-A26D-07C2A8055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15D8D1-0148-4557-A20E-607E38206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8166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D66220-CBAF-4681-B683-5A3BE943A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65089B-5770-4CF5-884C-893D2CD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EB07A9-ECC5-445D-A1AC-8DFBB76C4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BE9A44-5BD9-4AE1-BE41-2ADE26189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B9AF-E62C-4FB6-964C-1CB4F9A33145}" type="datetime1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38E96E-8EE1-4225-9490-BFA0D53FB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537358-846A-4CE0-8D8B-F0C34D6F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9315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6BF05-869C-41C2-8891-ED2CC00F5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DC2EB92-3D7D-4117-ABEE-51160674F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47D8E32-6E65-48F4-90CB-46A69C232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842DE5-51A9-4698-BBD5-9298EEBE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2C11-C66F-4B92-AA88-12326A857FAA}" type="datetime1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569443-A664-4810-8149-1C2A5950A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59B8F9-F33D-4C36-BC1D-3C96A620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98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A65B7-2DF6-4184-B87D-2F35A33B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98E092-53F2-4946-A10B-52F857A30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F2D21B-2E33-4D80-A3C5-091A94B5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E8844-966E-4024-A1AF-70166957BD01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614677-6867-4BBC-A030-B8E145B5C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AF911C-0C36-4F04-975B-4405625D8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553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E80734-3197-4F6D-B3D0-ED1F5817B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F1694C-19F0-4D3D-B72C-66A37649F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576D13-A077-429B-BFB4-6C06F708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65EF-1CAD-47B9-A68F-A0610FFD2CDA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25D99D-DE6F-43AB-9FB8-62B83A01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ADD39B-F57C-4188-B868-2D9A15F2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31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EA1FFB-9B1F-4372-B0F3-62F1CBD6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360380-F14C-4433-9019-1051501BA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8A0C4D-42B2-4928-8CB9-DE6098467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21D19-374E-49E9-8AFC-7BEFB7F7524E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1A6457-7C0B-4F23-A8CB-A36BF864E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577BEF-A4FA-4259-9468-103CABAFC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2E9FD-9361-4E37-B3AC-40CAB6187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664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ED7CC6-8E37-4915-B0E5-652AA1ECE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30140"/>
          </a:xfrm>
        </p:spPr>
        <p:txBody>
          <a:bodyPr/>
          <a:lstStyle/>
          <a:p>
            <a:r>
              <a:rPr lang="ru-RU" dirty="0"/>
              <a:t>Скрипты на </a:t>
            </a:r>
            <a:r>
              <a:rPr lang="en-US" dirty="0"/>
              <a:t>Bash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7470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8372B-891B-46AB-8B2E-93307B59B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 чего начинается скрипт…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F43B04-02E8-4543-A619-F9A623A3A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Создайте пустой файл с использованием команды </a:t>
            </a:r>
            <a:r>
              <a:rPr lang="ru-RU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touch</a:t>
            </a:r>
            <a:r>
              <a:rPr lang="ru-RU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</a:p>
          <a:p>
            <a:r>
              <a:rPr lang="ru-RU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В его первой строке нужно указать, какую именно оболочку мы собираемся использовать. Нас интересует </a:t>
            </a:r>
            <a:r>
              <a:rPr lang="ru-RU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bash</a:t>
            </a:r>
            <a:r>
              <a:rPr lang="ru-RU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, поэтому первая строка файла будет такой: </a:t>
            </a:r>
          </a:p>
          <a:p>
            <a:pPr marL="0" indent="0"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</a:t>
            </a:r>
            <a:endParaRPr lang="ru-RU" sz="24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Теперь допишите в файл строки: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 This is a comment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pwd</a:t>
            </a:r>
            <a:endParaRPr lang="ru-RU" sz="2400" b="0" i="0" u="none" strike="noStrike" baseline="0" dirty="0"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0" i="0" u="none" strike="noStrike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whoami</a:t>
            </a:r>
            <a:r>
              <a:rPr lang="en-US" sz="24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400" b="0" i="0" u="none" strike="noStrike" baseline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0DC4E3-2DFA-44AC-9E56-406CDFF84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51A0CA-0D20-4E7B-8377-C56DC896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656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BE9BC8-97F8-49C1-AEDA-929BED35A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разрешений для файла сценария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E56772-7FEC-4331-BD6E-FED397E8D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ru-RU" dirty="0"/>
              <a:t>Сохраните файл, дав ему имя </a:t>
            </a:r>
            <a:r>
              <a:rPr lang="ru-RU" dirty="0" err="1"/>
              <a:t>myscript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074021-EC7C-41C2-986A-2716087F3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24124"/>
            <a:ext cx="10515599" cy="2159960"/>
          </a:xfrm>
          <a:prstGeom prst="rect">
            <a:avLst/>
          </a:prstGeom>
        </p:spPr>
      </p:pic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3E5D8446-989B-4E22-BBD4-FF85DFEEC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EB33341-A036-4454-82D5-E77C2EFB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496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BE9BC8-97F8-49C1-AEDA-929BED35A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разрешений для файла сценария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E56772-7FEC-4331-BD6E-FED397E8D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994" y="1425030"/>
            <a:ext cx="10515600" cy="4351338"/>
          </a:xfrm>
        </p:spPr>
        <p:txBody>
          <a:bodyPr/>
          <a:lstStyle/>
          <a:p>
            <a:r>
              <a:rPr lang="ru-RU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Сделаем файл исполняемым: </a:t>
            </a:r>
          </a:p>
          <a:p>
            <a:pPr marL="0" indent="0">
              <a:buNone/>
            </a:pPr>
            <a:r>
              <a:rPr lang="en-US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chmod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+x ./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myscript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ru-RU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Теперь попытаемся его выполнить: 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./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myscript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4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98AAF8-DD8D-4C26-B7DC-2311C33ED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94" y="3938043"/>
            <a:ext cx="10324012" cy="2147127"/>
          </a:xfrm>
          <a:prstGeom prst="rect">
            <a:avLst/>
          </a:prstGeom>
        </p:spPr>
      </p:pic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A09A1F3D-7AC1-416F-9AB0-DA0BB1031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94BD2CE2-3548-4495-9AF3-F247FC00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17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5A9BFA-C014-4E22-926C-D8453ED2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сообщений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A94149-A7F1-438B-98C0-272680711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115"/>
            <a:ext cx="10515600" cy="4351338"/>
          </a:xfrm>
        </p:spPr>
        <p:txBody>
          <a:bodyPr/>
          <a:lstStyle/>
          <a:p>
            <a:r>
              <a:rPr lang="ru-RU" dirty="0"/>
              <a:t>Для вывода текста в консоль Linux применяется команда </a:t>
            </a:r>
            <a:r>
              <a:rPr lang="ru-RU" dirty="0" err="1"/>
              <a:t>echo</a:t>
            </a:r>
            <a:endParaRPr lang="en-US" dirty="0"/>
          </a:p>
          <a:p>
            <a:r>
              <a:rPr lang="ru-RU" dirty="0"/>
              <a:t>Поправим наш файл: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 our comment is here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"The current directory is:"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pwd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"The user logged in is:"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whoami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E9AB95-94FF-4DD5-ABEE-DB47B18B4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025128"/>
            <a:ext cx="10515599" cy="2186973"/>
          </a:xfrm>
          <a:prstGeom prst="rect">
            <a:avLst/>
          </a:prstGeom>
        </p:spPr>
      </p:pic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00E4B7-F7F4-4A6F-8969-43AA1408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95E042-A9E4-46F7-9D32-52624D1E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246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96A332-730D-4A6B-9093-20F0C4394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Переменные среды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6E0F4A-884D-4288-8D66-6C656118F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Иногда в командах оболочки нужно работать с некими системными данными: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 display user home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"Home for the current user is: $HOME" </a:t>
            </a:r>
            <a:endParaRPr lang="ru-RU" dirty="0"/>
          </a:p>
          <a:p>
            <a:r>
              <a:rPr lang="ru-RU" dirty="0"/>
              <a:t>Обратите внимание на то, что мы можем использовать системную переменную $HOME в двойных кавычках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106487-CB77-4F72-8468-5DF9392F7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271962"/>
            <a:ext cx="10515599" cy="2164310"/>
          </a:xfrm>
          <a:prstGeom prst="rect">
            <a:avLst/>
          </a:prstGeom>
        </p:spPr>
      </p:pic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CAF9C7-EAC6-48E8-8C39-E2B5F5A9D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7AEE08-93A1-4DE7-BB30-3A3745B8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913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9D1D7-17D5-44A9-A51F-CE3EEB258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Специальные символы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8EA299-7E25-4EB8-82AF-A0EA15D32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вывода доллара нужно использовать обратный слеш.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"I have \$1 in my pocket" 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37D7D0-533D-4A11-9D76-A25162917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14662"/>
            <a:ext cx="10515599" cy="2191696"/>
          </a:xfrm>
          <a:prstGeom prst="rect">
            <a:avLst/>
          </a:prstGeom>
        </p:spPr>
      </p:pic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301348-DC5D-42FD-A2FA-E55806859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608802-8129-4C5C-A059-8BE6E2E0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025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6CA91-0194-4B21-AA84-7C8E3AF1C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Пользовательские переменные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AF31C2-4931-4CD3-AFE6-10C0A6B34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 testing variables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grade=5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person="Adam"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"$person is a good boy, he is in grade $grade"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D18583-8522-4BD4-B3E5-97A2224A4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317421"/>
            <a:ext cx="10515599" cy="2134916"/>
          </a:xfrm>
          <a:prstGeom prst="rect">
            <a:avLst/>
          </a:prstGeom>
        </p:spPr>
      </p:pic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D334A8-4E17-4F41-80C2-E4E6F1F73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864211-11D5-40F3-A85B-9A8D1F7D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54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012696-6144-4AEB-945F-99C01639C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Подстановка команд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EE506E-5599-4B24-8500-6755442BA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Одна из самых полезных возможностей </a:t>
            </a:r>
            <a:r>
              <a:rPr lang="ru-RU" dirty="0" err="1"/>
              <a:t>bash</a:t>
            </a:r>
            <a:r>
              <a:rPr lang="ru-RU" dirty="0"/>
              <a:t>-скриптов — это возможность извлекать информацию из вывода команд и назначать её переменным</a:t>
            </a:r>
            <a:endParaRPr lang="en-US" dirty="0"/>
          </a:p>
          <a:p>
            <a:endParaRPr lang="en-US" dirty="0"/>
          </a:p>
          <a:p>
            <a:r>
              <a:rPr lang="ru-RU" dirty="0"/>
              <a:t>Сделать это можно двумя способами.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 помощью значка обратного апострофа «`»</a:t>
            </a:r>
            <a:r>
              <a:rPr lang="en-US" dirty="0"/>
              <a:t>: 	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mydir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=`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pwd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`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 помощью конструкции $()</a:t>
            </a:r>
            <a:r>
              <a:rPr lang="en-US" dirty="0"/>
              <a:t>:				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mydir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=$(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pwd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BD6699B-4391-4981-9AB1-F644E9D73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C07773-3A4E-42DE-AACD-16EF15CBE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949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7E833-AEFC-4609-AE98-00E093DF7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подстановки </a:t>
            </a:r>
            <a:r>
              <a:rPr lang="ru-RU" dirty="0" err="1"/>
              <a:t>комманд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E65A36-6FDE-4439-8EE6-1C17C6DB3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mydir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=$(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pwd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$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mydir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C7E381E-AB8B-4910-905E-5B5EBCE5E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8DA22D-9CD5-4A00-ADD3-81391390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10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14E2D5-8D35-4C8E-AA10-F5896E04A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23940"/>
            <a:ext cx="10515599" cy="218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9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CAE00-58B0-493F-AAEB-0D84A5A28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Математические операции	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48971-F943-4EF6-B28A-17065B218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выполнения математических операций в файле скрипта можно использовать конструкцию вида $((</a:t>
            </a:r>
            <a:r>
              <a:rPr lang="ru-RU" dirty="0" err="1"/>
              <a:t>a+b</a:t>
            </a:r>
            <a:r>
              <a:rPr lang="ru-RU" dirty="0"/>
              <a:t>)):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var1=$(( 5 + 5 ))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$var1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var2=$(( var1 * 2 ))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$var2 </a:t>
            </a:r>
            <a:endParaRPr lang="ru-RU" sz="32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7CE5753-FCC8-4D0A-9B8C-776B954EC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8FF493-4E58-41AE-9743-0507C433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11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CBF0BA-334F-45F1-AE44-7EFECE654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62412"/>
            <a:ext cx="9812383" cy="197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214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A9E5B6-BC9E-4E58-A71F-E95528FCC2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Условный оператор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A3CD111-D5AD-465D-A9F9-C469AC9354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609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E98EF7-740B-4026-87C6-4A719683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Управляющая конструкция </a:t>
            </a:r>
            <a:r>
              <a:rPr lang="en-US" dirty="0"/>
              <a:t>if-then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99B382-AEA3-46C0-8B81-81C8AC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276113"/>
          </a:xfrm>
        </p:spPr>
        <p:txBody>
          <a:bodyPr numCol="2">
            <a:normAutofit fontScale="92500" lnSpcReduction="20000"/>
          </a:bodyPr>
          <a:lstStyle/>
          <a:p>
            <a:r>
              <a:rPr lang="ru-RU" sz="3000" dirty="0"/>
              <a:t>Синтаксис</a:t>
            </a:r>
            <a:endParaRPr lang="ru-RU" dirty="0"/>
          </a:p>
          <a:p>
            <a:pPr marL="0" indent="1524000">
              <a:spcBef>
                <a:spcPts val="0"/>
              </a:spcBef>
              <a:buNone/>
            </a:pPr>
            <a:endParaRPr lang="ru-RU" sz="24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152400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 </a:t>
            </a:r>
            <a:r>
              <a:rPr lang="ru-RU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команда </a:t>
            </a:r>
          </a:p>
          <a:p>
            <a:pPr marL="0" indent="152400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 </a:t>
            </a:r>
          </a:p>
          <a:p>
            <a:pPr marL="0" indent="1524000">
              <a:spcBef>
                <a:spcPts val="0"/>
              </a:spcBef>
              <a:buNone/>
            </a:pPr>
            <a:r>
              <a:rPr lang="ru-RU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команды </a:t>
            </a:r>
          </a:p>
          <a:p>
            <a:pPr marL="0" indent="152400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 </a:t>
            </a:r>
            <a:endParaRPr lang="ru-RU" sz="24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1524000">
              <a:spcBef>
                <a:spcPts val="0"/>
              </a:spcBef>
              <a:buNone/>
            </a:pPr>
            <a:endParaRPr lang="ru-RU" sz="24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1524000">
              <a:spcBef>
                <a:spcPts val="0"/>
              </a:spcBef>
              <a:buNone/>
            </a:pPr>
            <a:endParaRPr lang="ru-RU" sz="24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ru-RU" sz="3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А вот рабочий пример: </a:t>
            </a:r>
          </a:p>
          <a:p>
            <a:pPr marL="0" indent="0">
              <a:spcBef>
                <a:spcPts val="0"/>
              </a:spcBef>
              <a:buNone/>
            </a:pPr>
            <a:endParaRPr lang="ru-RU" sz="23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 </a:t>
            </a:r>
            <a:r>
              <a:rPr lang="en-US" sz="23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pwd</a:t>
            </a:r>
            <a:r>
              <a:rPr lang="en-US" sz="2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2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"It works"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3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 </a:t>
            </a:r>
            <a:endParaRPr lang="ru-RU" sz="46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1565E8D-5EBB-437E-9102-CAB1C456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F13B1F3-4445-4446-82CC-80CEDB7A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13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2DD190-394A-4DC8-B16C-CAD21F058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18959"/>
            <a:ext cx="9716589" cy="19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44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3AD77F-00FD-4C2D-9E82-8926B5907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Реальный пример условия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412A0A-6AE0-4BF6-A6F6-F7A3DB807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/>
              <a:t>Надо найти некоего пользователя в /</a:t>
            </a:r>
            <a:r>
              <a:rPr lang="ru-RU" sz="2400" dirty="0" err="1"/>
              <a:t>etc</a:t>
            </a:r>
            <a:r>
              <a:rPr lang="ru-RU" sz="2400" dirty="0"/>
              <a:t>/</a:t>
            </a:r>
            <a:r>
              <a:rPr lang="ru-RU" sz="2400" dirty="0" err="1"/>
              <a:t>passwd</a:t>
            </a:r>
            <a:r>
              <a:rPr lang="ru-RU" sz="2400" dirty="0"/>
              <a:t>, и если найти его удалось, сообщить о том, что он существует.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user=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ali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 grep $user /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etc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/passwd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"The user $user Exists"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AC5118-7BCB-4E3E-97F8-72784D9E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CF48DBB-7C63-499A-BA1A-3D83E7E6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14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8019D5-B81B-4E41-B320-FBCF66054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59274"/>
            <a:ext cx="9963786" cy="199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69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E06DD-5A95-43D7-91FF-06C644BD9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 двумя ветвями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33E97D-A617-4F3D-A8BF-E688377A9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user=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anotherUser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 grep $user /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etc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/passwd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"The user $user Exists"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else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"The user $user doesn’t exist"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 </a:t>
            </a:r>
            <a:endParaRPr lang="ru-RU" sz="32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C77E882-8526-45DF-A07C-93F41E94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12ECA5-8504-402E-B6EA-D1980ED10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15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60FA0A7-DD59-4EA3-B999-6ED025A7B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15480"/>
            <a:ext cx="9803674" cy="196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55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24AAD-4984-4EC8-9191-7B4D27B6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нескольких условий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B01F2B-725D-4399-B3B8-D88DF758C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58006" cy="435133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user=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anotherUser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 grep $user /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etc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/passwd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"The user $user Exists"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elif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ls /home 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endParaRPr lang="en-US" sz="18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"The user doesn’t exist but anyway there is a directory under /home"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C6AEEE0-2B2B-4DA5-B3ED-A32EDB16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1E1173-C83A-426C-AC41-EEDCD1D3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16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1921DE8-08AF-482C-B55D-3CBB4B849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24188"/>
            <a:ext cx="9768840" cy="196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25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4E356-BB7F-4DBF-97C3-EFEF9AD2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чисел	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52F5BC-6529-46DE-8A65-7AE608FBE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скриптах можно сравнивать числовые значения. Ниже приведён список соответствующих команд:</a:t>
            </a:r>
          </a:p>
          <a:p>
            <a:r>
              <a:rPr lang="ru-RU" dirty="0"/>
              <a:t>n1 -</a:t>
            </a:r>
            <a:r>
              <a:rPr lang="ru-RU" dirty="0" err="1"/>
              <a:t>eq</a:t>
            </a:r>
            <a:r>
              <a:rPr lang="ru-RU" dirty="0"/>
              <a:t> n2 </a:t>
            </a:r>
            <a:r>
              <a:rPr lang="en-US" dirty="0"/>
              <a:t>		True</a:t>
            </a:r>
            <a:r>
              <a:rPr lang="ru-RU" dirty="0"/>
              <a:t>, если</a:t>
            </a:r>
            <a:r>
              <a:rPr lang="en-US" dirty="0"/>
              <a:t> 	</a:t>
            </a:r>
            <a:r>
              <a:rPr lang="ru-RU" dirty="0"/>
              <a:t>n1</a:t>
            </a:r>
            <a:r>
              <a:rPr lang="en-US" dirty="0"/>
              <a:t> </a:t>
            </a:r>
            <a:r>
              <a:rPr lang="ru-RU" dirty="0"/>
              <a:t> =</a:t>
            </a:r>
            <a:r>
              <a:rPr lang="en-US" dirty="0"/>
              <a:t> </a:t>
            </a:r>
            <a:r>
              <a:rPr lang="ru-RU" dirty="0"/>
              <a:t> n2.</a:t>
            </a:r>
          </a:p>
          <a:p>
            <a:r>
              <a:rPr lang="ru-RU" dirty="0"/>
              <a:t>n1 -</a:t>
            </a:r>
            <a:r>
              <a:rPr lang="ru-RU" dirty="0" err="1"/>
              <a:t>ge</a:t>
            </a:r>
            <a:r>
              <a:rPr lang="ru-RU" dirty="0"/>
              <a:t> n2 		</a:t>
            </a:r>
            <a:r>
              <a:rPr lang="en-US" dirty="0"/>
              <a:t>True</a:t>
            </a:r>
            <a:r>
              <a:rPr lang="ru-RU" dirty="0"/>
              <a:t>, если</a:t>
            </a:r>
            <a:r>
              <a:rPr lang="en-US" dirty="0"/>
              <a:t> 	</a:t>
            </a:r>
            <a:r>
              <a:rPr lang="ru-RU" dirty="0"/>
              <a:t>n1 </a:t>
            </a:r>
            <a:r>
              <a:rPr lang="en-US" dirty="0"/>
              <a:t>&gt;</a:t>
            </a:r>
            <a:r>
              <a:rPr lang="ru-RU" dirty="0"/>
              <a:t>= n2.</a:t>
            </a:r>
          </a:p>
          <a:p>
            <a:r>
              <a:rPr lang="ru-RU" dirty="0"/>
              <a:t>n1 -</a:t>
            </a:r>
            <a:r>
              <a:rPr lang="ru-RU" dirty="0" err="1"/>
              <a:t>gt</a:t>
            </a:r>
            <a:r>
              <a:rPr lang="ru-RU" dirty="0"/>
              <a:t> n2 </a:t>
            </a:r>
            <a:r>
              <a:rPr lang="en-US" dirty="0"/>
              <a:t>		True</a:t>
            </a:r>
            <a:r>
              <a:rPr lang="ru-RU" dirty="0"/>
              <a:t>, если</a:t>
            </a:r>
            <a:r>
              <a:rPr lang="en-US" dirty="0"/>
              <a:t> 	</a:t>
            </a:r>
            <a:r>
              <a:rPr lang="ru-RU" dirty="0"/>
              <a:t>n1 </a:t>
            </a:r>
            <a:r>
              <a:rPr lang="en-US" dirty="0"/>
              <a:t> &gt;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n2.</a:t>
            </a:r>
          </a:p>
          <a:p>
            <a:r>
              <a:rPr lang="ru-RU" dirty="0"/>
              <a:t>n1 -</a:t>
            </a:r>
            <a:r>
              <a:rPr lang="ru-RU" dirty="0" err="1"/>
              <a:t>le</a:t>
            </a:r>
            <a:r>
              <a:rPr lang="ru-RU" dirty="0"/>
              <a:t> n2 </a:t>
            </a:r>
            <a:r>
              <a:rPr lang="en-US" dirty="0"/>
              <a:t>		True</a:t>
            </a:r>
            <a:r>
              <a:rPr lang="ru-RU" dirty="0"/>
              <a:t>, если</a:t>
            </a:r>
            <a:r>
              <a:rPr lang="en-US" dirty="0"/>
              <a:t> 	</a:t>
            </a:r>
            <a:r>
              <a:rPr lang="ru-RU" dirty="0"/>
              <a:t>n1 </a:t>
            </a:r>
            <a:r>
              <a:rPr lang="en-US" dirty="0"/>
              <a:t>&lt;</a:t>
            </a:r>
            <a:r>
              <a:rPr lang="ru-RU" dirty="0"/>
              <a:t>= n2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n1 -</a:t>
            </a:r>
            <a:r>
              <a:rPr lang="ru-RU" dirty="0" err="1"/>
              <a:t>lt</a:t>
            </a:r>
            <a:r>
              <a:rPr lang="ru-RU" dirty="0"/>
              <a:t> n2 </a:t>
            </a:r>
            <a:r>
              <a:rPr lang="en-US" dirty="0"/>
              <a:t>		True</a:t>
            </a:r>
            <a:r>
              <a:rPr lang="ru-RU" dirty="0"/>
              <a:t>, если</a:t>
            </a:r>
            <a:r>
              <a:rPr lang="en-US" dirty="0"/>
              <a:t> 	</a:t>
            </a:r>
            <a:r>
              <a:rPr lang="ru-RU" dirty="0"/>
              <a:t>n1 </a:t>
            </a:r>
            <a:r>
              <a:rPr lang="en-US" dirty="0"/>
              <a:t> &lt;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n2.</a:t>
            </a:r>
          </a:p>
          <a:p>
            <a:r>
              <a:rPr lang="ru-RU" dirty="0"/>
              <a:t>n1 -</a:t>
            </a:r>
            <a:r>
              <a:rPr lang="ru-RU" dirty="0" err="1"/>
              <a:t>ne</a:t>
            </a:r>
            <a:r>
              <a:rPr lang="ru-RU" dirty="0"/>
              <a:t> n2 </a:t>
            </a:r>
            <a:r>
              <a:rPr lang="en-US" dirty="0"/>
              <a:t>		True</a:t>
            </a:r>
            <a:r>
              <a:rPr lang="ru-RU" dirty="0"/>
              <a:t>, если</a:t>
            </a:r>
            <a:r>
              <a:rPr lang="en-US" dirty="0"/>
              <a:t> 	</a:t>
            </a:r>
            <a:r>
              <a:rPr lang="ru-RU" dirty="0"/>
              <a:t>n1 </a:t>
            </a:r>
            <a:r>
              <a:rPr lang="en-US" dirty="0"/>
              <a:t> !=</a:t>
            </a:r>
            <a:r>
              <a:rPr lang="ru-RU" dirty="0"/>
              <a:t> n2.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1B0548-9159-41FC-8D55-869134692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CF3569-F96C-40E2-9A60-7802EC43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84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92302B-16BE-4AAB-96D1-0D6DC24AE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сравнения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BAB4E7-FF55-4C8A-B9BD-1F929F929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val1=6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 [ $val1 -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gt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5 ]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"The test value $value1 is greater than 5"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else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"The test value $value1 is not greater than 5"</a:t>
            </a:r>
            <a:endParaRPr lang="ru-RU" sz="18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fi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DA55B1C-FBDD-432B-9068-EF2C0362F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03979CD-0427-4158-92CE-798D501F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18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A3A3FE-96C4-45F7-9ABE-E867D9208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001293"/>
            <a:ext cx="9821091" cy="200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963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D6F46-3CD0-448A-BEC1-3885E8FE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строк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CDFDCC-DEF0-4C90-B38C-31C252183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сценариях можно сравнивать и строковые значения</a:t>
            </a:r>
            <a:r>
              <a:rPr lang="en-US" dirty="0"/>
              <a:t>:</a:t>
            </a:r>
          </a:p>
          <a:p>
            <a:r>
              <a:rPr lang="ru-RU" dirty="0"/>
              <a:t>str1 = str2 </a:t>
            </a:r>
            <a:r>
              <a:rPr lang="en-US" dirty="0"/>
              <a:t>		</a:t>
            </a:r>
            <a:r>
              <a:rPr lang="ru-RU" dirty="0"/>
              <a:t> </a:t>
            </a:r>
            <a:r>
              <a:rPr lang="en-US" dirty="0"/>
              <a:t>True</a:t>
            </a:r>
            <a:r>
              <a:rPr lang="ru-RU" dirty="0"/>
              <a:t>, если строки идентичны.</a:t>
            </a:r>
          </a:p>
          <a:p>
            <a:r>
              <a:rPr lang="ru-RU" dirty="0"/>
              <a:t>str1 != str2 </a:t>
            </a:r>
            <a:r>
              <a:rPr lang="en-US" dirty="0"/>
              <a:t>	 True</a:t>
            </a:r>
            <a:r>
              <a:rPr lang="ru-RU" dirty="0"/>
              <a:t>, если строки не идентичны.</a:t>
            </a:r>
          </a:p>
          <a:p>
            <a:r>
              <a:rPr lang="ru-RU" dirty="0"/>
              <a:t>str1 &lt; str2 </a:t>
            </a:r>
            <a:r>
              <a:rPr lang="en-US" dirty="0"/>
              <a:t>		 True</a:t>
            </a:r>
            <a:r>
              <a:rPr lang="ru-RU" dirty="0"/>
              <a:t>, если str1 меньше, чем str2.</a:t>
            </a:r>
          </a:p>
          <a:p>
            <a:r>
              <a:rPr lang="ru-RU" dirty="0"/>
              <a:t>str1 &gt; str2 </a:t>
            </a:r>
            <a:r>
              <a:rPr lang="en-US" dirty="0"/>
              <a:t>		 True</a:t>
            </a:r>
            <a:r>
              <a:rPr lang="ru-RU" dirty="0"/>
              <a:t>, если str1 больше, чем str2.</a:t>
            </a:r>
          </a:p>
          <a:p>
            <a:r>
              <a:rPr lang="ru-RU" dirty="0"/>
              <a:t>-n str1 </a:t>
            </a:r>
            <a:r>
              <a:rPr lang="en-US" dirty="0"/>
              <a:t>		 True</a:t>
            </a:r>
            <a:r>
              <a:rPr lang="ru-RU" dirty="0"/>
              <a:t>, если длина str1 больше нуля.</a:t>
            </a:r>
          </a:p>
          <a:p>
            <a:r>
              <a:rPr lang="ru-RU" dirty="0"/>
              <a:t>-z str1 </a:t>
            </a:r>
            <a:r>
              <a:rPr lang="en-US" dirty="0"/>
              <a:t>		 True</a:t>
            </a:r>
            <a:r>
              <a:rPr lang="ru-RU" dirty="0"/>
              <a:t>, если длина str1 равна нулю.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5B35F6-3DAF-49DD-B83E-B4937D061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0855DE7-1148-4439-8C30-BCFA7DE8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892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A83D30-7577-4202-99CF-5A616E7E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сравнения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C503CD-D62A-4A4F-A46E-BD6FFE8E5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user ="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ali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 [ $user = $</a:t>
            </a:r>
            <a:r>
              <a:rPr lang="ru-RU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whoami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"The user $user is the current logged in user"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</a:t>
            </a:r>
          </a:p>
          <a:p>
            <a:pPr marL="0" indent="0">
              <a:spcBef>
                <a:spcPts val="0"/>
              </a:spcBef>
              <a:buNone/>
            </a:pPr>
            <a:endParaRPr lang="ru-RU" sz="36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390A551-7C30-4FE3-A267-FF640E4FA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F02AA1-4A9F-4EDE-B1E8-DB0134E0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20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148D5E-9F9A-4E6D-A379-F0FFB1900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079829"/>
            <a:ext cx="10515599" cy="212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00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6AF7A8-162C-4F83-B46A-80CD22C5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Экранирование знаков сравнения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FFF93A-B134-487C-950B-EC9550747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0320"/>
            <a:ext cx="10515600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val1=text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val2="another text"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 [ $val1 \&gt; $val2 ]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"$val1 is greater than $val2"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else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"$val1 is less than $val2"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 </a:t>
            </a:r>
            <a:endParaRPr lang="ru-RU" sz="32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D48A96D-85EF-4836-ABAC-D4AE54F2B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FC9F04-6AD3-4C29-A3ED-EF9FC473A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21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EB9C89-55D7-424D-90F7-E0B4F27B7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01049"/>
            <a:ext cx="10515600" cy="215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06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3873C4-B7B3-4DA5-BE66-9B9DABED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Экранирование правого элемента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0B74F6-8063-4027-BB39-FC58E214F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9887"/>
            <a:ext cx="10515600" cy="435133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#!/bin/bash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val1=text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val2="another text" </a:t>
            </a: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 [ $val1 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\&gt; "$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val2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"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]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then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echo "$val1 is greater than $val2"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else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echo "$val1 is less than $val2"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 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AE2D6F0-1607-4B9E-BDB5-E47C5D3B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2C9DB2-014D-47FA-9A96-526FDB07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22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A69353-A9B7-4736-8DFA-E9980ED0B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40462"/>
            <a:ext cx="10515600" cy="215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68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948D3-129F-4915-9F35-92F0992A7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сравнения </a:t>
            </a:r>
            <a:r>
              <a:rPr lang="en-US" dirty="0"/>
              <a:t>&gt; </a:t>
            </a:r>
            <a:r>
              <a:rPr lang="ru-RU" dirty="0"/>
              <a:t>и </a:t>
            </a:r>
            <a:r>
              <a:rPr lang="en-US" dirty="0"/>
              <a:t>&lt;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1406C0-0F4B-4F7E-AB53-FFB6D5D64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368"/>
            <a:ext cx="10515600" cy="4351338"/>
          </a:xfrm>
        </p:spPr>
        <p:txBody>
          <a:bodyPr/>
          <a:lstStyle/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Ещё одна особенность операторов «&gt;» и «&lt;» заключается в том, как они работают с символами в верхнем и нижнем регистрах. Для того, чтобы понять эту особенность, подготовим текстовый файл с таким содержимым: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Ali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ali</a:t>
            </a:r>
            <a:endParaRPr lang="en-US" sz="18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Сохраним его, дав имя 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myfile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, после чего 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выведим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его на экран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cat 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myfile</a:t>
            </a:r>
            <a:endParaRPr lang="ru-RU" sz="1800" dirty="0"/>
          </a:p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и введём на терминале такую команду: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sort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myfile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6FF41FC-7B58-431D-A1EF-A3473C98B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C83A492-FC3F-4985-927D-CA4CF41F9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23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B7BFA1-0EFD-4450-96D9-A8C016863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28193"/>
            <a:ext cx="10515599" cy="212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06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B3213-891B-4D6C-88CC-8B9CDE472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особенностей сравнения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5E11C-D80F-457B-AA41-F25CEF682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val1="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Ali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val2="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ali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 [ $val1 \&gt; $val2 ]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"$val1 is greater than $val2"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else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"$val1 is less than $val2"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D3A9F2-723E-4258-A47A-3EC352CD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9C6BF84-FA35-4C38-AC28-4829EAFF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24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796DA9C-3700-48B0-8CFA-2CBFAFDDE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101192"/>
            <a:ext cx="10515599" cy="213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83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CF515-3364-44E7-A9A7-924DBE7D6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Проверки файлов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A00047-88AC-4EE2-8DE1-E22F1C130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4994"/>
            <a:ext cx="11057709" cy="5177881"/>
          </a:xfrm>
        </p:spPr>
        <p:txBody>
          <a:bodyPr>
            <a:normAutofit fontScale="92500"/>
          </a:bodyPr>
          <a:lstStyle/>
          <a:p>
            <a:r>
              <a:rPr lang="ru-RU" dirty="0"/>
              <a:t>Пожалуй, нижеприведённые команды используются в </a:t>
            </a:r>
            <a:r>
              <a:rPr lang="ru-RU" dirty="0" err="1"/>
              <a:t>bash</a:t>
            </a:r>
            <a:r>
              <a:rPr lang="ru-RU" dirty="0"/>
              <a:t>-скриптах чаще всего. Они позволяют проверять различные условия, касающиеся файлов.</a:t>
            </a:r>
          </a:p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-d 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file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		Проверяет, существует ли файл, и является ли он директорией. </a:t>
            </a:r>
          </a:p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-e 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file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		Проверяет, существует ли файл. </a:t>
            </a:r>
          </a:p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-f 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file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		Проверяет, существует ли файл, и является ли он файлом. </a:t>
            </a:r>
          </a:p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-r 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file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		Проверяет, существует ли файл, и доступен ли он для чтения. </a:t>
            </a:r>
          </a:p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-s 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file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		Проверяет, существует ли файл, и не является ли он пустым. </a:t>
            </a:r>
          </a:p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-w 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file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		Проверяет, существует ли файл, и доступен ли он для записи. </a:t>
            </a:r>
          </a:p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-x 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file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		Проверяет, существует ли файл, и является ли он исполняемым. </a:t>
            </a:r>
          </a:p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file1 -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nt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file2 	Проверяет, новее ли file1, чем file2. </a:t>
            </a:r>
          </a:p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file1 -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ot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file2 	Проверяет, старше ли file1, чем file2. </a:t>
            </a:r>
          </a:p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-O 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file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		Проверяет, существует ли файл, и является ли его владельцем текущий пользователь. </a:t>
            </a:r>
          </a:p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-G 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file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		Проверяет, существует ли файл, и соответствует ли его идентификатор группы идентификатору группы текущего пользователя.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0D3BAE4-D094-4BD9-8CD8-EDC997814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59B712-CBFB-49F5-8920-2BE9E22D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0880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3F19A-91D9-4647-962C-EA852BBBE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проверки файлов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2CE48C-19F8-46AF-BA5B-B7B40B959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030"/>
            <a:ext cx="10515600" cy="4853849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mydir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=/home/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ali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 [ -d $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mydir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"The $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mydir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directory exists"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cd $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mydir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ls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else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"The $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mydir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directory does not exist"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2A84A6-B48E-46AE-8106-5A40AED24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857B25-9D5A-4766-904D-01598593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26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5DEF01B-A157-4A49-8158-497B5DC21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66480"/>
            <a:ext cx="10515599" cy="213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94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CE566F-1E23-4455-B6A7-432F7BB0C6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Циклы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B931C3-0DDD-438D-BFEB-0E338F2768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6090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F189FB-C0BE-47AC-A613-7E0C0163D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Циклы </a:t>
            </a:r>
            <a:r>
              <a:rPr lang="en-US" dirty="0"/>
              <a:t>for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43883-AF18-4647-BE38-006012308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Оболочка </a:t>
            </a:r>
            <a:r>
              <a:rPr lang="ru-RU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bash</a:t>
            </a:r>
            <a:r>
              <a:rPr lang="ru-RU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поддерживает циклы </a:t>
            </a:r>
            <a:r>
              <a:rPr lang="ru-RU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for</a:t>
            </a:r>
            <a:r>
              <a:rPr lang="ru-RU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, которые позволяют организовывать перебор последовательностей значений. Вот какова базовая структура таких циклов: </a:t>
            </a:r>
          </a:p>
          <a:p>
            <a:pPr marL="0" indent="0">
              <a:spcBef>
                <a:spcPts val="0"/>
              </a:spcBef>
              <a:buNone/>
            </a:pPr>
            <a:endParaRPr lang="en-US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var in list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ru-RU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команды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</a:p>
          <a:p>
            <a:pPr marL="0" indent="0">
              <a:spcBef>
                <a:spcPts val="0"/>
              </a:spcBef>
              <a:buNone/>
            </a:pPr>
            <a:endParaRPr lang="en-US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7E63D7F-D7BF-4198-99A2-55B5D36B9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082E95D-3E18-4E59-AE63-725790B1B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141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24893-7B8F-4826-8CFF-DA45B398D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Перебор простых значений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221094-2C43-4F37-96C2-5FDC1CF70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var in first second third fourth fifth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The $var item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  <a:endParaRPr lang="ru-RU" sz="36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BF7C18E-D6B1-4B00-8284-7F7E2880A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5DCE6D-5BF5-4FEF-B9C5-90AA831CD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29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4FB647-54E4-4445-AFE1-F5A7A1A2E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57613"/>
            <a:ext cx="10515599" cy="212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999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BCD000-437F-4D3F-A1E8-2A3AC840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Перебор сложных значений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BBC1C7-692F-43E0-B93D-F020D52FE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var in first "the second" "the third" "I’ll do it"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"This is: $var"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  <a:endParaRPr lang="ru-RU" sz="36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8C72FC-A59A-4630-B939-9564E59E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62F604D-72C9-4A03-BBB5-2A3D7F0F2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30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4CDC7D0-AE32-4010-A4EA-9C10F2912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31782"/>
            <a:ext cx="10515600" cy="215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487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FF3968-066B-401C-BD33-AC652A8C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Инициализация цикла списком, полученным из результатов работы команды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2A173B-DEC7-427C-A136-0D9D4709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file="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myfile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var in $(cat $file)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 $var"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46C584-4579-4FB2-AC52-090933AB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A77D89-C439-4F99-B303-9D7E5F5B7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31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7998003-345F-41F8-A7DB-E2355AD6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10515600" cy="218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431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4A706-C932-465B-9EDA-7F776774F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Разделители полей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2C06E7-84C5-44F3-B223-05660D226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 умолчанию оболочка </a:t>
            </a:r>
            <a:r>
              <a:rPr lang="ru-RU" dirty="0" err="1"/>
              <a:t>bash</a:t>
            </a:r>
            <a:r>
              <a:rPr lang="ru-RU" dirty="0"/>
              <a:t> считает разделителями полей следующие символы:</a:t>
            </a:r>
          </a:p>
          <a:p>
            <a:r>
              <a:rPr lang="ru-RU" dirty="0"/>
              <a:t>Пробел</a:t>
            </a:r>
          </a:p>
          <a:p>
            <a:r>
              <a:rPr lang="ru-RU" dirty="0"/>
              <a:t>Знак табуляции</a:t>
            </a:r>
          </a:p>
          <a:p>
            <a:r>
              <a:rPr lang="ru-RU" dirty="0"/>
              <a:t>Знак перевода строки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D4F455-53FB-46FB-8595-4E14EBFD0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9B9177C-74D7-4717-9586-BA3B8128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25351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D5AD04-38C4-4CF9-B76C-F6DD2652C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разделителей полей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DE45BF-B967-4E1E-8BDF-F0B54990D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35491" cy="4351338"/>
          </a:xfrm>
        </p:spPr>
        <p:txBody>
          <a:bodyPr>
            <a:normAutofit/>
          </a:bodyPr>
          <a:lstStyle/>
          <a:p>
            <a:r>
              <a:rPr lang="ru-RU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Для того, чтобы решить проблему, можно временно изменить переменную среды IFS. Вот как это сделать в </a:t>
            </a:r>
            <a:r>
              <a:rPr lang="ru-RU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bash</a:t>
            </a:r>
            <a:r>
              <a:rPr lang="ru-RU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-скрипте, если исходить из предположения, что в качестве разделителя полей нужен только перевод строки: </a:t>
            </a:r>
          </a:p>
          <a:p>
            <a:pPr marL="0" indent="0">
              <a:buNone/>
            </a:pPr>
            <a:r>
              <a:rPr lang="en-US" i="0" u="none" strike="noStrike" baseline="0" dirty="0">
                <a:solidFill>
                  <a:srgbClr val="000000"/>
                </a:solidFill>
                <a:latin typeface="CordiaUPC" panose="020B0502040204020203" pitchFamily="34" charset="-34"/>
                <a:cs typeface="CordiaUPC" panose="020B0502040204020203" pitchFamily="34" charset="-34"/>
              </a:rPr>
              <a:t>IFS=$'\n' </a:t>
            </a:r>
          </a:p>
          <a:p>
            <a:r>
              <a:rPr lang="ru-RU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После добавления этой команды в </a:t>
            </a:r>
            <a:r>
              <a:rPr lang="ru-RU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bash</a:t>
            </a:r>
            <a:r>
              <a:rPr lang="ru-RU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-скрипт, он будет работать как надо, игнорируя пробелы и знаки табуляции, считая разделителями полей лишь символы перевода строки. </a:t>
            </a:r>
            <a:endParaRPr lang="ru-RU" sz="4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117FBF-1B91-423D-93C6-530267751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99CC3EC-8F72-404B-A515-2AE39C625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02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4B785-0113-4906-BD4D-7F8E54120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обработки разделителей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17DD3C-F53E-4238-9E39-E26C4BCB8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file="/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etc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/passwd"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IFS=$'\n'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var in $(cat $file)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 $var"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  <a:endParaRPr lang="ru-RU" sz="32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BC799C4-1062-485F-89F1-69103EA5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5D53E4F-5523-4608-B3B7-35B9856A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34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C2E417-21AF-40B3-8892-C02608B60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158" y="3384550"/>
            <a:ext cx="873442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39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F140E-EC3E-49F5-BBF2-E80F4E94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IFS </a:t>
            </a:r>
            <a:r>
              <a:rPr lang="ru-RU" dirty="0"/>
              <a:t>по умолчанию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60A86D1-F4F7-4610-A461-77C5C10B1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1011" y="1825625"/>
            <a:ext cx="7369978" cy="4351338"/>
          </a:xfrm>
          <a:prstGeom prst="rect">
            <a:avLst/>
          </a:prstGeom>
        </p:spPr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3BB3D90-2230-4D6E-B3F4-6E5384F4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E49206-BF94-4D0C-847A-73330956A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3344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24A6E-A862-4D8E-A00B-21993EF5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Обход файлов, </a:t>
            </a:r>
            <a:br>
              <a:rPr lang="ru-RU" dirty="0"/>
            </a:br>
            <a:r>
              <a:rPr lang="ru-RU" dirty="0"/>
              <a:t>содержащихся в домашней директории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116EB4-8FBA-48F5-809A-6A21EB575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file in 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~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/*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 [ -d "$file" 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"$file is a directory"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elif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[ -f "$file" 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"$file is a file"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CA6CEC-81E9-4C86-9E9B-07E924450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6D6014-4085-439A-9597-A2C243965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36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2D1485E-E56A-4F1C-9F44-EC9CAC5C4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983" y="3994150"/>
            <a:ext cx="877252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495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86A094-C263-402C-BE5B-EFF4F2F06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Циклы </a:t>
            </a:r>
            <a:r>
              <a:rPr lang="ru-RU" dirty="0" err="1"/>
              <a:t>for</a:t>
            </a:r>
            <a:r>
              <a:rPr lang="ru-RU" dirty="0"/>
              <a:t> в стиле C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20FF41-DB88-4219-865A-D5C89AEA0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7114" cy="4351338"/>
          </a:xfrm>
        </p:spPr>
        <p:txBody>
          <a:bodyPr/>
          <a:lstStyle/>
          <a:p>
            <a:r>
              <a:rPr lang="ru-RU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В </a:t>
            </a:r>
            <a:r>
              <a:rPr lang="ru-RU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bash</a:t>
            </a:r>
            <a:r>
              <a:rPr lang="ru-RU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-скриптах можно использовать циклы </a:t>
            </a:r>
            <a:r>
              <a:rPr lang="ru-RU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for</a:t>
            </a:r>
            <a:r>
              <a:rPr lang="ru-RU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, описание которых выглядит очень похожим на циклы в стиле C, правда, без некоторых отличий тут не обошлось. Схема цикла при подобном подходе выглядит так: </a:t>
            </a:r>
          </a:p>
          <a:p>
            <a:pPr marL="0" indent="0">
              <a:buNone/>
            </a:pPr>
            <a:r>
              <a:rPr lang="ru-RU" sz="2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for</a:t>
            </a:r>
            <a:r>
              <a:rPr lang="ru-RU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(( начальное значение ; условие выхода; изменение переменной )) </a:t>
            </a:r>
          </a:p>
          <a:p>
            <a:r>
              <a:rPr lang="ru-RU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На </a:t>
            </a:r>
            <a:r>
              <a:rPr lang="ru-RU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bash</a:t>
            </a:r>
            <a:r>
              <a:rPr lang="ru-RU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это можно написать так: </a:t>
            </a:r>
          </a:p>
          <a:p>
            <a:pPr marL="0" indent="0"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(( a = 1; a &lt; 10; a++ )) </a:t>
            </a:r>
            <a:endParaRPr lang="ru-RU" sz="32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B07DA8-66B3-4EDA-8758-D6767E64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F0FB02-B0D6-4C88-B071-EDC60E177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5264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58895A-E956-452C-A0CF-2503E5F02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Реальный пример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2C1639-DEA1-4461-835D-080BF6C86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n-NO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(( i=1; i &lt;= 10; i++ ))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  <a:endParaRPr lang="ru-RU" sz="20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"number is $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  <a:endParaRPr lang="ru-RU" sz="32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28C490-84BE-49BF-99A9-0FE8C09A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59652A-FD57-4C47-98C9-7D9ADB8D5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38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A9405F-B8AC-4D43-BB99-2ADF2AF19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10515600" cy="286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017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753A16-35AF-4800-BB6C-F82612DD9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 </a:t>
            </a:r>
            <a:r>
              <a:rPr lang="en-US" dirty="0"/>
              <a:t>while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7D78A3-4427-4E15-B675-EEA27C05C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Здесь можно пользоваться и циклами </a:t>
            </a:r>
            <a:r>
              <a:rPr lang="ru-RU" dirty="0" err="1"/>
              <a:t>while</a:t>
            </a:r>
            <a:r>
              <a:rPr lang="ru-RU" dirty="0"/>
              <a:t>. В таком цикле можно задать команду проверки некоего условия и выполнять тело цикла до тех пор, пока проверяемое условие возвращает ноль, или сигнал успешного завершения некоей операции. Когда условие цикла вернёт ненулевое значение, что означает ошибку, цикл остановится.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while </a:t>
            </a:r>
            <a:r>
              <a:rPr lang="ru-RU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команда проверки условия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другие команды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  <a:endParaRPr lang="ru-RU" sz="32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7C86BDF-737E-4A1F-86A8-D9F56B112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0B97BDB-E808-407D-8D45-13401987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1889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A3F2B-55FD-40FC-B310-14C9C477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Реальный 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7C5A4E-FD65-468D-8899-830A3D191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var1=5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while [ $var1 -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gt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0 ]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$var1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var1=$[ $var1 - 1 ]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97F6978-74EB-4E10-9D32-E8D494017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0D0F33-0087-45AF-93B7-941EA94FC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40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43C097-3FB2-40DD-B76F-F512A5931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74485"/>
            <a:ext cx="10515600" cy="264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722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5B0C5A-2478-4E24-BA71-0F7B15E5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Вложенные циклы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1575FF-76E0-4F5C-8731-9AF8E9ED5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945"/>
            <a:ext cx="10515600" cy="4351338"/>
          </a:xfrm>
        </p:spPr>
        <p:txBody>
          <a:bodyPr/>
          <a:lstStyle/>
          <a:p>
            <a:r>
              <a:rPr lang="ru-RU" dirty="0"/>
              <a:t>В теле цикла можно запускать другие циклы. Такие конструкции называют вложенными циклами: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(( a = 1; a &lt;= 3; a++ ))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"Start $a:"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(( b = 1; b &lt;= 3; b++ ))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 Inner loop: $b"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2ADE115-E7D4-4C4C-9E00-F24833BBE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653B85-E8FC-4AD4-81A5-AD33AFDF6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41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EEA32B8-9F30-4114-A8C9-AABDF676D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098" y="3892123"/>
            <a:ext cx="8307705" cy="246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791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150B8-2948-4DA6-ACA5-F95EF0F9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содержимого файла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83752A-8FB6-4271-9507-EE863579F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Чаще всего вложенные циклы используют для обработки файлов. Так, внешний цикл занимается перебором строк файла, а внутренний уже работает с каждой строкой. Вот, например, как выглядит обработка файла /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etc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/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passwd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IFS=$'\n'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entry in $(cat /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etc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/passwd)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"Values in $entry –"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IFS=: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value in $entry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 $value"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91E292-3BEC-489E-9BC1-36130D0C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9FF969F-E715-4012-8E87-7645FB11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0982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3E42C-FB39-4D12-8956-A776FD900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 обработки файла </a:t>
            </a:r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/passwd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AD0A451-2686-46E1-8A38-986C2CC45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5257" y="1330601"/>
            <a:ext cx="8621486" cy="5099638"/>
          </a:xfrm>
          <a:prstGeom prst="rect">
            <a:avLst/>
          </a:prstGeom>
        </p:spPr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0505B2D-7465-4BB8-AC68-56DABF22A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2CA7F7-FD98-4A75-9BB1-5E9AFFFE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599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30CCB-A89C-4481-9883-50315849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Команда </a:t>
            </a:r>
            <a:r>
              <a:rPr lang="en-US" dirty="0"/>
              <a:t>break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4BCC5D-7862-481D-9686-ACA88C435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var1 in 1 2 3 4 5 6 7 8 9 10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if [ $var1 -eq 5 ]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break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fi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echo "Number: $var1"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DBFE96D-0058-432D-B37D-1BEC36F4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C80074A-08E0-4975-9185-FF94CAD63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44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22C340-C372-447A-9473-60F31A070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4181865"/>
            <a:ext cx="10515599" cy="208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4738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56D33-27EE-4DD3-A42F-77B1A0D7F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Команда </a:t>
            </a:r>
            <a:r>
              <a:rPr lang="en-US" dirty="0"/>
              <a:t>continue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9415F3-9F1A-40F7-99F4-7B7F8327A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(( var1 = 1; var1 &lt; 15; var1++ ))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if [ $var1 -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gt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5 ] &amp;&amp; [ $var1 -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10 ]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continue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fi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echo "Iteration number: $var1"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D68F902-EC57-4B63-BAED-2A894651B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629B10-93BE-465B-83CF-6DD47B97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45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D21BF73-DA65-4927-AB66-3CAAEF4A2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4041775"/>
            <a:ext cx="876300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059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70140A-9A9C-44E9-A8A2-507ADB1E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вывода, выполняемого в цикле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F2692A-BAA1-4B35-8FAA-B5BD9CD93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Данные, выводимые в цикле, можно обработать, либо перенаправив вывод, либо передав их в конвейер. Делается это с помощью добавления команд обработки вывода после инструкции </a:t>
            </a:r>
            <a:r>
              <a:rPr lang="ru-RU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done</a:t>
            </a:r>
            <a:r>
              <a:rPr lang="ru-RU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</a:p>
          <a:p>
            <a:r>
              <a:rPr lang="ru-RU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Например, вместо того, чтобы показывать на экране то, что выводится в цикле, можно записать всё это в файл или передать ещё куда-нибудь:</a:t>
            </a:r>
            <a:endParaRPr lang="en-US" sz="2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(( a = 1; a &lt; 10; a++ ))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echo "Number is $a"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&gt; myfile.txt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"finished." 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860A97F-DE08-44BD-97E7-8CCD3792B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417A7A-1F79-475B-A6C4-2731518C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45858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87DF5-574C-40BD-B771-F4397F01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 скрипта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CE092B6-705C-4D0F-A96D-8BC4121FC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2369389"/>
            <a:ext cx="10515600" cy="3143250"/>
          </a:xfrm>
          <a:prstGeom prst="rect">
            <a:avLst/>
          </a:prstGeom>
        </p:spPr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F8ADA54-5ABD-4A2F-A5DA-C58BA3EF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8A7AE5-1BD1-438F-AC0A-7E55AF90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453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4F001-84B9-4FEF-990C-5E13A01D7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поиск исполняемых файлов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9A7AE9-28E7-432C-A8F7-9BABE03ED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dirty="0"/>
              <a:t>Давайте воспользуемся тем, что мы уже разобрали, и напишем что-нибудь полезное. Например, если надо выяснить, какие именно исполняемые файлы доступны в системе, можно просканировать все папки, лежащие в .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#!/bin/bash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IFS=: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folder in $PATH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"$folder:"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for file in $folder/*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 [ -x $file 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echo " $file"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  <a:endParaRPr lang="ru-RU" sz="24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24C16D2-1DC8-486F-BB57-D6B597909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2F8523-1194-42F2-AC16-7B774B9D3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89048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EDB8F-DBF3-422E-80D7-AA8AD6804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 скрипта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C9783B0-357C-48A5-A7DC-808C152FF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BB70AF-40C1-4A98-9607-9DF3F584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49</a:t>
            </a:fld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CB78E5AB-5C2B-4081-B5ED-4F7DB03ED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5257" y="1292046"/>
            <a:ext cx="8621486" cy="506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587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23323-48B7-4118-AB1D-6961A2D0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12B433-D5FE-4B58-9D8D-4EF78D08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Скрипты на </a:t>
            </a:r>
            <a:r>
              <a:rPr lang="en-US"/>
              <a:t>Bash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9CAFEDE-2186-4EE5-8FC0-16E9D9EB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E9FD-9361-4E37-B3AC-40CAB618781F}" type="slidenum">
              <a:rPr lang="ru-RU" smtClean="0"/>
              <a:t>50</a:t>
            </a:fld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C39D53-FD72-4039-9545-6A4348513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850" y="2053862"/>
            <a:ext cx="2095500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1C6036C-453B-4F5D-A3F7-D15D958C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819400"/>
            <a:ext cx="1219199" cy="121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77F7B91-EC75-4A3A-91A3-B32BEAB53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650" y="2892708"/>
            <a:ext cx="1716133" cy="1072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285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2402</Words>
  <Application>Microsoft Office PowerPoint</Application>
  <PresentationFormat>Широкоэкранный</PresentationFormat>
  <Paragraphs>454</Paragraphs>
  <Slides>50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6" baseType="lpstr">
      <vt:lpstr>Arial</vt:lpstr>
      <vt:lpstr>Calibri</vt:lpstr>
      <vt:lpstr>Calibri Light</vt:lpstr>
      <vt:lpstr>CordiaUPC</vt:lpstr>
      <vt:lpstr>Courier New</vt:lpstr>
      <vt:lpstr>Тема Office</vt:lpstr>
      <vt:lpstr>Скрипты на Bash</vt:lpstr>
      <vt:lpstr>С чего начинается скрипт…</vt:lpstr>
      <vt:lpstr>Установка разрешений для файла сценария</vt:lpstr>
      <vt:lpstr>Установка разрешений для файла сценария</vt:lpstr>
      <vt:lpstr>Вывод сообщений</vt:lpstr>
      <vt:lpstr>Переменные среды</vt:lpstr>
      <vt:lpstr>Специальные символы</vt:lpstr>
      <vt:lpstr>Пользовательские переменные</vt:lpstr>
      <vt:lpstr>Подстановка команд</vt:lpstr>
      <vt:lpstr>Пример подстановки комманд</vt:lpstr>
      <vt:lpstr>Математические операции </vt:lpstr>
      <vt:lpstr>Условный оператор</vt:lpstr>
      <vt:lpstr>Управляющая конструкция if-then</vt:lpstr>
      <vt:lpstr>Реальный пример условия</vt:lpstr>
      <vt:lpstr>Пример с двумя ветвями</vt:lpstr>
      <vt:lpstr>Проверка нескольких условий</vt:lpstr>
      <vt:lpstr>Сравнение чисел </vt:lpstr>
      <vt:lpstr>Пример сравнения</vt:lpstr>
      <vt:lpstr>Сравнение строк</vt:lpstr>
      <vt:lpstr>Пример сравнения</vt:lpstr>
      <vt:lpstr>Экранирование знаков сравнения</vt:lpstr>
      <vt:lpstr>Экранирование правого элемента </vt:lpstr>
      <vt:lpstr>Особенности сравнения &gt; и &lt;</vt:lpstr>
      <vt:lpstr>Пример особенностей сравнения</vt:lpstr>
      <vt:lpstr>Проверки файлов</vt:lpstr>
      <vt:lpstr>Пример проверки файлов</vt:lpstr>
      <vt:lpstr>Циклы</vt:lpstr>
      <vt:lpstr>Циклы for</vt:lpstr>
      <vt:lpstr>Перебор простых значений</vt:lpstr>
      <vt:lpstr>Перебор сложных значений</vt:lpstr>
      <vt:lpstr>Инициализация цикла списком, полученным из результатов работы команды</vt:lpstr>
      <vt:lpstr>Разделители полей</vt:lpstr>
      <vt:lpstr>Настройка разделителей полей</vt:lpstr>
      <vt:lpstr>Пример обработки разделителей</vt:lpstr>
      <vt:lpstr>IFS по умолчанию</vt:lpstr>
      <vt:lpstr>Обход файлов,  содержащихся в домашней директории</vt:lpstr>
      <vt:lpstr>Циклы for в стиле C</vt:lpstr>
      <vt:lpstr>Реальный пример </vt:lpstr>
      <vt:lpstr>Цикл while</vt:lpstr>
      <vt:lpstr>Реальный пример</vt:lpstr>
      <vt:lpstr>Вложенные циклы</vt:lpstr>
      <vt:lpstr>Обработка содержимого файла</vt:lpstr>
      <vt:lpstr>Результат обработки файла /etc/passwd</vt:lpstr>
      <vt:lpstr>Команда break</vt:lpstr>
      <vt:lpstr>Команда continue</vt:lpstr>
      <vt:lpstr>Обработка вывода, выполняемого в цикле</vt:lpstr>
      <vt:lpstr>Результат скрипта</vt:lpstr>
      <vt:lpstr>Пример: поиск исполняемых файлов</vt:lpstr>
      <vt:lpstr>Результат скрипта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Скрипты на Bash</dc:title>
  <dc:creator>Ali Shadow</dc:creator>
  <cp:lastModifiedBy>local</cp:lastModifiedBy>
  <cp:revision>23</cp:revision>
  <dcterms:created xsi:type="dcterms:W3CDTF">2020-10-08T21:00:47Z</dcterms:created>
  <dcterms:modified xsi:type="dcterms:W3CDTF">2026-10-05T10:29:02Z</dcterms:modified>
</cp:coreProperties>
</file>