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1" r:id="rId1"/>
  </p:sldMasterIdLst>
  <p:notesMasterIdLst>
    <p:notesMasterId r:id="rId21"/>
  </p:notesMasterIdLst>
  <p:sldIdLst>
    <p:sldId id="256" r:id="rId2"/>
    <p:sldId id="262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3" r:id="rId16"/>
    <p:sldId id="284" r:id="rId17"/>
    <p:sldId id="285" r:id="rId18"/>
    <p:sldId id="286" r:id="rId19"/>
    <p:sldId id="287" r:id="rId20"/>
  </p:sldIdLst>
  <p:sldSz cx="9144000" cy="6858000" type="screen4x3"/>
  <p:notesSz cx="6858000" cy="9144000"/>
  <p:embeddedFontLst>
    <p:embeddedFont>
      <p:font typeface="Tahoma" panose="020B0604030504040204" pitchFamily="34" charset="0"/>
      <p:regular r:id="rId22"/>
      <p:bold r:id="rId23"/>
    </p:embeddedFont>
    <p:embeddedFont>
      <p:font typeface="Verdana" panose="020B060403050404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89DFD9-A352-4A58-8694-33033C1D80FF}">
  <a:tblStyle styleId="{E889DFD9-A352-4A58-8694-33033C1D80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" name="Google Shape;9;n"/>
          <p:cNvSpPr txBox="1">
            <a:spLocks noGrp="1"/>
          </p:cNvSpPr>
          <p:nvPr>
            <p:ph type="sldNum" idx="4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cd ..</a:t>
            </a:r>
            <a:r>
              <a:rPr lang="en-US" baseline="0" dirty="0"/>
              <a:t> </a:t>
            </a:r>
            <a:r>
              <a:rPr lang="ru-RU" baseline="0" dirty="0"/>
              <a:t>Переход в родительский каталог</a:t>
            </a:r>
            <a:endParaRPr dirty="0"/>
          </a:p>
        </p:txBody>
      </p:sp>
      <p:sp>
        <p:nvSpPr>
          <p:cNvPr id="320" name="Google Shape;3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Владелец</a:t>
            </a:r>
            <a:r>
              <a:rPr lang="ru-RU" baseline="0" dirty="0"/>
              <a:t> все, группа-чтение и выполнение, остальные ничего</a:t>
            </a:r>
            <a:endParaRPr dirty="0"/>
          </a:p>
        </p:txBody>
      </p:sp>
      <p:sp>
        <p:nvSpPr>
          <p:cNvPr id="342" name="Google Shape;34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</a:t>
            </a:r>
            <a:r>
              <a:rPr lang="en-US" baseline="0" dirty="0"/>
              <a:t> – </a:t>
            </a:r>
            <a:r>
              <a:rPr lang="ru-RU" baseline="0" dirty="0"/>
              <a:t>тип объекта</a:t>
            </a:r>
            <a:endParaRPr dirty="0"/>
          </a:p>
        </p:txBody>
      </p:sp>
      <p:sp>
        <p:nvSpPr>
          <p:cNvPr id="350" name="Google Shape;35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 - </a:t>
            </a:r>
            <a:r>
              <a:rPr lang="ru-RU" sz="18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все подкаталоги и все файлы в подкаталогах</a:t>
            </a:r>
            <a:endParaRPr dirty="0"/>
          </a:p>
        </p:txBody>
      </p:sp>
      <p:sp>
        <p:nvSpPr>
          <p:cNvPr id="417" name="Google Shape;41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122D68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dt" idx="10"/>
          </p:nvPr>
        </p:nvSpPr>
        <p:spPr>
          <a:xfrm>
            <a:off x="1143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sldNum" idx="12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"/>
          <p:cNvSpPr txBox="1"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99C6F3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661987" y="2684462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1044575" y="2684462"/>
            <a:ext cx="328612" cy="474662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785812" y="3106737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1155700" y="3106737"/>
            <a:ext cx="368300" cy="474662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folHlink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371475" y="3033712"/>
            <a:ext cx="560387" cy="422275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chemeClr val="lt1"/>
              </a:gs>
            </a:gsLst>
            <a:lin ang="81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762000" y="0"/>
            <a:ext cx="115887" cy="6858000"/>
          </a:xfrm>
          <a:prstGeom prst="rect">
            <a:avLst/>
          </a:prstGeom>
          <a:gradFill>
            <a:gsLst>
              <a:gs pos="0">
                <a:srgbClr val="CCECFF"/>
              </a:gs>
              <a:gs pos="100000">
                <a:srgbClr val="3A74AE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0" y="3160712"/>
            <a:ext cx="7197725" cy="115887"/>
          </a:xfrm>
          <a:prstGeom prst="rect">
            <a:avLst/>
          </a:prstGeom>
          <a:gradFill>
            <a:gsLst>
              <a:gs pos="0">
                <a:srgbClr val="3A74AE"/>
              </a:gs>
              <a:gs pos="100000">
                <a:srgbClr val="CCECF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dt" idx="10"/>
          </p:nvPr>
        </p:nvSpPr>
        <p:spPr>
          <a:xfrm>
            <a:off x="1295400" y="6323012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ftr" idx="11"/>
          </p:nvPr>
        </p:nvSpPr>
        <p:spPr>
          <a:xfrm>
            <a:off x="2971800" y="63246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sldNum" idx="12"/>
          </p:nvPr>
        </p:nvSpPr>
        <p:spPr>
          <a:xfrm>
            <a:off x="7315200" y="6323012"/>
            <a:ext cx="15986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1295400" y="6323012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2971800" y="63246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7315200" y="6323012"/>
            <a:ext cx="15986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366712" y="855662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749300" y="855662"/>
            <a:ext cx="328612" cy="474662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490537" y="1277937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860425" y="1277937"/>
            <a:ext cx="368300" cy="474662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folHlink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76200" y="1204912"/>
            <a:ext cx="560387" cy="422275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chemeClr val="lt1"/>
              </a:gs>
            </a:gsLst>
            <a:lin ang="81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533400" y="0"/>
            <a:ext cx="79375" cy="2057400"/>
          </a:xfrm>
          <a:prstGeom prst="rect">
            <a:avLst/>
          </a:prstGeom>
          <a:gradFill>
            <a:gsLst>
              <a:gs pos="0">
                <a:srgbClr val="CCECFF"/>
              </a:gs>
              <a:gs pos="100000">
                <a:srgbClr val="3A74AE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0" y="1371600"/>
            <a:ext cx="7197725" cy="79375"/>
          </a:xfrm>
          <a:prstGeom prst="rect">
            <a:avLst/>
          </a:prstGeom>
          <a:gradFill>
            <a:gsLst>
              <a:gs pos="0">
                <a:srgbClr val="3A74AE"/>
              </a:gs>
              <a:gs pos="100000">
                <a:srgbClr val="CCECF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1227137" y="6172200"/>
            <a:ext cx="7916862" cy="57150"/>
          </a:xfrm>
          <a:prstGeom prst="rect">
            <a:avLst/>
          </a:prstGeom>
          <a:gradFill>
            <a:gsLst>
              <a:gs pos="0">
                <a:srgbClr val="CCECFF"/>
              </a:gs>
              <a:gs pos="100000">
                <a:srgbClr val="3A74AE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>
            <a:spLocks noGrp="1"/>
          </p:cNvSpPr>
          <p:nvPr>
            <p:ph type="ctrTitle"/>
          </p:nvPr>
        </p:nvSpPr>
        <p:spPr>
          <a:xfrm>
            <a:off x="1524000" y="868680"/>
            <a:ext cx="6781800" cy="395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150000"/>
              </a:lnSpc>
              <a:buClr>
                <a:schemeClr val="dk2"/>
              </a:buClr>
              <a:buSzPts val="5400"/>
            </a:pPr>
            <a:r>
              <a:rPr lang="ru-RU" sz="4400" dirty="0"/>
              <a:t>Операции с файлами и каталогами</a:t>
            </a:r>
            <a:br>
              <a:rPr lang="ru-RU" sz="4400" dirty="0"/>
            </a:br>
            <a:r>
              <a:rPr lang="ru-RU" sz="4400" dirty="0"/>
              <a:t>Работа с командами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Типы файлов LINUX</a:t>
            </a:r>
            <a:endParaRPr/>
          </a:p>
        </p:txBody>
      </p:sp>
      <p:sp>
        <p:nvSpPr>
          <p:cNvPr id="206" name="Google Shape;206;p11"/>
          <p:cNvSpPr txBox="1"/>
          <p:nvPr/>
        </p:nvSpPr>
        <p:spPr>
          <a:xfrm>
            <a:off x="872837" y="1828799"/>
            <a:ext cx="7744690" cy="3726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ahoma"/>
              <a:buChar char="•"/>
            </a:pPr>
            <a:r>
              <a:rPr lang="en-US" sz="1900" b="1" i="1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Обычный</a:t>
            </a:r>
            <a:r>
              <a:rPr lang="en-US" sz="1900" b="1" i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900" b="1" i="1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файл</a:t>
            </a:r>
            <a:r>
              <a:rPr lang="en-US" sz="1900" b="1" i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(-)</a:t>
            </a:r>
            <a:r>
              <a:rPr lang="ru-RU" sz="1900" b="1" i="1" dirty="0">
                <a:ea typeface="Tahoma"/>
              </a:rPr>
              <a:t> </a:t>
            </a:r>
            <a:r>
              <a:rPr lang="ru-RU" sz="1900" dirty="0">
                <a:solidFill>
                  <a:schemeClr val="tx1"/>
                </a:solidFill>
                <a:ea typeface="Tahoma"/>
              </a:rPr>
              <a:t>-</a:t>
            </a:r>
            <a:r>
              <a:rPr lang="ru-RU" sz="1900" dirty="0">
                <a:solidFill>
                  <a:schemeClr val="tx1"/>
                </a:solidFill>
              </a:rPr>
              <a:t> содержат обычные данные, текстовые файлы, исполняемые файлы ( или программы ), файлы ввода или вывода программ</a:t>
            </a:r>
            <a:endParaRPr lang="en-US" sz="1900" dirty="0">
              <a:solidFill>
                <a:schemeClr val="tx1"/>
              </a:solidFill>
            </a:endParaRPr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ahoma"/>
              <a:buChar char="•"/>
            </a:pPr>
            <a:r>
              <a:rPr lang="ru-RU" sz="1900" dirty="0"/>
              <a:t> </a:t>
            </a:r>
            <a:r>
              <a:rPr lang="en-US" sz="1900" b="1" i="1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Каталог</a:t>
            </a:r>
            <a:r>
              <a:rPr lang="en-US" sz="1900" b="1" i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(d)</a:t>
            </a:r>
            <a:r>
              <a:rPr lang="ru-RU" sz="1900" b="1" i="1" dirty="0"/>
              <a:t> </a:t>
            </a:r>
            <a:r>
              <a:rPr lang="ru-RU" sz="1900" dirty="0">
                <a:solidFill>
                  <a:schemeClr val="tx1"/>
                </a:solidFill>
              </a:rPr>
              <a:t>- файлы, которые представляют собой списки других файлов</a:t>
            </a:r>
          </a:p>
          <a:p>
            <a:pPr indent="-152400">
              <a:buClr>
                <a:schemeClr val="accent1"/>
              </a:buClr>
              <a:buSzPts val="2400"/>
              <a:buFont typeface="Tahoma"/>
              <a:buChar char="•"/>
            </a:pPr>
            <a:r>
              <a:rPr lang="en-US" sz="1900" b="1" i="1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Ссылка</a:t>
            </a:r>
            <a:r>
              <a:rPr lang="en-US" sz="1900" b="1" i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(l</a:t>
            </a:r>
            <a:r>
              <a:rPr lang="en-US" sz="1900" b="1" i="1" dirty="0">
                <a:solidFill>
                  <a:schemeClr val="tx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ru-RU" sz="1900" dirty="0">
                <a:solidFill>
                  <a:schemeClr val="tx1"/>
                </a:solidFill>
                <a:latin typeface="Tahoma"/>
                <a:ea typeface="Tahoma"/>
                <a:cs typeface="Tahoma"/>
                <a:sym typeface="Tahoma"/>
              </a:rPr>
              <a:t> -</a:t>
            </a:r>
            <a:r>
              <a:rPr lang="ru-RU" sz="1900" dirty="0">
                <a:solidFill>
                  <a:schemeClr val="tx1"/>
                </a:solidFill>
              </a:rPr>
              <a:t> механизм обеспечения видимости файла или каталога во множестве частей файлового дерева системы</a:t>
            </a:r>
            <a:endParaRPr lang="ru-RU" sz="19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indent="-152400">
              <a:buClr>
                <a:schemeClr val="accent1"/>
              </a:buClr>
              <a:buSzPts val="2400"/>
              <a:buFont typeface="Tahoma"/>
              <a:buChar char="•"/>
            </a:pPr>
            <a:r>
              <a:rPr lang="ru-RU" sz="1900" b="1" i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Сокет (s)</a:t>
            </a:r>
            <a:r>
              <a:rPr lang="ru-RU" sz="1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</a:t>
            </a:r>
            <a:r>
              <a:rPr lang="ru-RU" sz="1900" dirty="0"/>
              <a:t> </a:t>
            </a:r>
            <a:r>
              <a:rPr lang="ru-RU" sz="1900" dirty="0">
                <a:solidFill>
                  <a:schemeClr val="tx1"/>
                </a:solidFill>
              </a:rPr>
              <a:t>особый тип файла, подобный сокетам TCP/IP, обеспечивающий взаимодействие в сети процессов, защищенных контролем файловой системы на доступ</a:t>
            </a:r>
            <a:endParaRPr lang="ru-RU" sz="19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2400">
              <a:buClr>
                <a:schemeClr val="accent1"/>
              </a:buClr>
              <a:buSzPts val="2400"/>
              <a:buFont typeface="Tahoma"/>
              <a:buChar char="•"/>
            </a:pPr>
            <a:r>
              <a:rPr lang="en-US" sz="1900" b="1" i="1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Именованный</a:t>
            </a:r>
            <a:r>
              <a:rPr lang="en-US" sz="1900" b="1" i="1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900" b="1" i="1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канал</a:t>
            </a:r>
            <a:r>
              <a:rPr lang="en-US" sz="1900" b="1" i="1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FIFO (p)</a:t>
            </a:r>
            <a:r>
              <a:rPr lang="ru-RU" sz="1900" b="1" i="1" dirty="0"/>
              <a:t> </a:t>
            </a:r>
            <a:r>
              <a:rPr lang="ru-RU" sz="1900" dirty="0">
                <a:solidFill>
                  <a:schemeClr val="tx1"/>
                </a:solidFill>
              </a:rPr>
              <a:t>- действуют более или менее похоже на сокеты и обеспечивают способ коммуникации между процессами без использования правил поведения сетевых сокетов.</a:t>
            </a:r>
            <a:endParaRPr sz="19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Пользовательская среда shell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914400" y="1981200"/>
            <a:ext cx="7772400" cy="344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В рамках любого из интерпретаторов можно:</a:t>
            </a:r>
            <a:endParaRPr/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ahom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использовать набор команд (встроенные и внешние)</a:t>
            </a:r>
            <a:endParaRPr/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ahom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создавать и исполнять командные процедуры – скрипты</a:t>
            </a:r>
            <a:endParaRPr sz="2000" b="0" i="0" u="none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ahom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запускать на выполнение любые программы</a:t>
            </a:r>
            <a:endParaRPr/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ahoma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осуществлять настройку терминала и параметров среды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(окружения) пользователя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Каждый раз, когда открывается пользовательский сеанс,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автоматически запускаются два файла:</a:t>
            </a:r>
            <a:endParaRPr/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ahoma"/>
              <a:buChar char="•"/>
            </a:pPr>
            <a:r>
              <a:rPr lang="en-US" sz="2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profile</a:t>
            </a:r>
            <a:endParaRPr/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ahoma"/>
              <a:buChar char="•"/>
            </a:pPr>
            <a:r>
              <a:rPr lang="en-US" sz="2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bashes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Обобщенный формат команд shell</a:t>
            </a:r>
            <a:endParaRPr/>
          </a:p>
        </p:txBody>
      </p:sp>
      <p:sp>
        <p:nvSpPr>
          <p:cNvPr id="316" name="Google Shape;316;p19"/>
          <p:cNvSpPr txBox="1"/>
          <p:nvPr/>
        </p:nvSpPr>
        <p:spPr>
          <a:xfrm>
            <a:off x="457200" y="2209800"/>
            <a:ext cx="8382000" cy="39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имя_команды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ключевое слово, определяющее действие команды: 	</a:t>
            </a:r>
            <a:r>
              <a:rPr lang="en-US" sz="20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cd, cat, find, set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ключ (опция)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символ, задающий режим или способ выполнения команды (предваряется знаком “-”):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lang="en-US" sz="20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-l, -E, -alEgF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аргументы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список параметров, указывающих на обрабатываемые объекты или задающих исходные данные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При необходимости разделить ключи и аргументы следует  указать «двойной минус» --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man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команда вывода страниц руководства по командам shell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1447800" y="1600200"/>
            <a:ext cx="609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имя_команды [-ключи] [аргументы…]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Работа с каталогами</a:t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1828800" y="1752600"/>
            <a:ext cx="5053012" cy="185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Показать текущий каталог (pwd)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pwd</a:t>
            </a:r>
            <a:r>
              <a:rPr lang="en-US" sz="20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Изменить текущий каталог (cd)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cd [имя_каталога]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4267200" y="3810000"/>
            <a:ext cx="1549400" cy="17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None/>
            </a:pPr>
            <a:r>
              <a:rPr lang="en-US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800" b="0" i="0" u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US" sz="1800" b="0" i="0" u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/u/u01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None/>
            </a:pPr>
            <a:r>
              <a:rPr lang="en-US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cd pic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None/>
            </a:pPr>
            <a:r>
              <a:rPr lang="en-US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800" b="0" i="0" u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US" sz="1800" b="0" i="0" u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/u/u01/pic</a:t>
            </a:r>
            <a:endParaRPr dirty="0"/>
          </a:p>
        </p:txBody>
      </p:sp>
      <p:grpSp>
        <p:nvGrpSpPr>
          <p:cNvPr id="327" name="Google Shape;327;p20"/>
          <p:cNvGrpSpPr/>
          <p:nvPr/>
        </p:nvGrpSpPr>
        <p:grpSpPr>
          <a:xfrm>
            <a:off x="1142999" y="4038599"/>
            <a:ext cx="2542309" cy="1877291"/>
            <a:chOff x="1008" y="2544"/>
            <a:chExt cx="1104" cy="1104"/>
          </a:xfrm>
        </p:grpSpPr>
        <p:sp>
          <p:nvSpPr>
            <p:cNvPr id="328" name="Google Shape;328;p20"/>
            <p:cNvSpPr txBox="1"/>
            <p:nvPr/>
          </p:nvSpPr>
          <p:spPr>
            <a:xfrm>
              <a:off x="1344" y="2544"/>
              <a:ext cx="480" cy="144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None/>
              </a:pPr>
              <a:r>
                <a:rPr lang="en-US" sz="1800" b="1" i="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</a:t>
              </a:r>
              <a:endParaRPr/>
            </a:p>
          </p:txBody>
        </p:sp>
        <p:sp>
          <p:nvSpPr>
            <p:cNvPr id="329" name="Google Shape;329;p20"/>
            <p:cNvSpPr txBox="1"/>
            <p:nvPr/>
          </p:nvSpPr>
          <p:spPr>
            <a:xfrm>
              <a:off x="1344" y="2784"/>
              <a:ext cx="480" cy="144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</a:t>
              </a:r>
              <a:endParaRPr/>
            </a:p>
          </p:txBody>
        </p:sp>
        <p:sp>
          <p:nvSpPr>
            <p:cNvPr id="330" name="Google Shape;330;p20"/>
            <p:cNvSpPr txBox="1"/>
            <p:nvPr/>
          </p:nvSpPr>
          <p:spPr>
            <a:xfrm>
              <a:off x="1344" y="3024"/>
              <a:ext cx="480" cy="144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u01</a:t>
              </a:r>
              <a:endParaRPr/>
            </a:p>
          </p:txBody>
        </p:sp>
        <p:sp>
          <p:nvSpPr>
            <p:cNvPr id="331" name="Google Shape;331;p20"/>
            <p:cNvSpPr txBox="1"/>
            <p:nvPr/>
          </p:nvSpPr>
          <p:spPr>
            <a:xfrm>
              <a:off x="1632" y="3264"/>
              <a:ext cx="480" cy="144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pic</a:t>
              </a:r>
              <a:endParaRPr/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1008" y="3264"/>
              <a:ext cx="480" cy="144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file</a:t>
              </a:r>
              <a:endParaRPr/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1632" y="3504"/>
              <a:ext cx="480" cy="144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prog</a:t>
              </a:r>
              <a:endParaRPr/>
            </a:p>
          </p:txBody>
        </p:sp>
        <p:cxnSp>
          <p:nvCxnSpPr>
            <p:cNvPr id="334" name="Google Shape;334;p20"/>
            <p:cNvCxnSpPr/>
            <p:nvPr/>
          </p:nvCxnSpPr>
          <p:spPr>
            <a:xfrm>
              <a:off x="1584" y="2688"/>
              <a:ext cx="0" cy="96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35" name="Google Shape;335;p20"/>
            <p:cNvCxnSpPr/>
            <p:nvPr/>
          </p:nvCxnSpPr>
          <p:spPr>
            <a:xfrm>
              <a:off x="1584" y="2928"/>
              <a:ext cx="0" cy="96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36" name="Google Shape;336;p20"/>
            <p:cNvCxnSpPr/>
            <p:nvPr/>
          </p:nvCxnSpPr>
          <p:spPr>
            <a:xfrm>
              <a:off x="1584" y="3168"/>
              <a:ext cx="288" cy="96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37" name="Google Shape;337;p20"/>
            <p:cNvCxnSpPr/>
            <p:nvPr/>
          </p:nvCxnSpPr>
          <p:spPr>
            <a:xfrm flipH="1">
              <a:off x="1296" y="3168"/>
              <a:ext cx="288" cy="96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38" name="Google Shape;338;p20"/>
            <p:cNvCxnSpPr/>
            <p:nvPr/>
          </p:nvCxnSpPr>
          <p:spPr>
            <a:xfrm>
              <a:off x="1872" y="3408"/>
              <a:ext cx="0" cy="96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339" name="Google Shape;339;p20"/>
          <p:cNvSpPr txBox="1"/>
          <p:nvPr/>
        </p:nvSpPr>
        <p:spPr>
          <a:xfrm>
            <a:off x="6781800" y="3810000"/>
            <a:ext cx="2133600" cy="17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None/>
            </a:pPr>
            <a:r>
              <a:rPr lang="en-US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800" b="0" i="0" u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US" sz="1800" b="0" i="0" u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/u/u01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None/>
            </a:pPr>
            <a:r>
              <a:rPr lang="en-US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cd /</a:t>
            </a:r>
            <a:r>
              <a:rPr lang="en-US" sz="1800" b="0" i="0" u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etc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None/>
            </a:pPr>
            <a:r>
              <a:rPr lang="en-US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800" b="0" i="0" u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US" sz="1800" b="0" i="0" u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1800" b="0" i="0" u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etc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1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Создание каталога</a:t>
            </a: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838200" y="1855787"/>
            <a:ext cx="7962900" cy="305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 dirty="0" err="1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mkdir</a:t>
            </a:r>
            <a:r>
              <a:rPr lang="en-US" sz="24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 имя_каталога1 [имя_каталога2 …]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 sz="1200" b="1" i="0" u="none" dirty="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None/>
            </a:pPr>
            <a:r>
              <a:rPr lang="en-US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800" b="0" i="0" u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mkdir</a:t>
            </a:r>
            <a:r>
              <a:rPr lang="en-US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dir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создание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каталога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с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именем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в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текущем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каталоге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None/>
            </a:pPr>
            <a:r>
              <a:rPr lang="en-US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800" b="0" i="0" u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mkdir</a:t>
            </a:r>
            <a:r>
              <a:rPr lang="en-US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–m 750 </a:t>
            </a:r>
            <a:r>
              <a:rPr lang="en-US" sz="1800" b="0" i="0" u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dir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создание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каталога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с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установленными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правами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             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доступа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код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750)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None/>
            </a:pPr>
            <a:r>
              <a:rPr lang="en-US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800" b="0" i="0" u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mkdir</a:t>
            </a:r>
            <a:r>
              <a:rPr lang="en-US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dir1 dir2 dir3</a:t>
            </a:r>
            <a:r>
              <a:rPr lang="en-US" sz="18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lang="en-US" sz="18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создание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нескольких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каталогов</a:t>
            </a:r>
            <a:endParaRPr lang="en-US" sz="18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>
              <a:buClr>
                <a:schemeClr val="dk2"/>
              </a:buClr>
              <a:buSzPts val="1800"/>
            </a:pPr>
            <a:r>
              <a:rPr lang="ru-RU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ru-RU" sz="1800" b="0" i="0" u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mkdir</a:t>
            </a:r>
            <a:r>
              <a:rPr lang="ru-RU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–p </a:t>
            </a:r>
            <a:r>
              <a:rPr lang="ru-RU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dir1</a:t>
            </a:r>
            <a:r>
              <a:rPr lang="en-US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ru-RU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dir2</a:t>
            </a:r>
            <a:r>
              <a:rPr lang="en-US" sz="1800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ru-RU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dir3</a:t>
            </a:r>
            <a:r>
              <a:rPr lang="ru-RU" sz="18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ru-RU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–</a:t>
            </a:r>
            <a:r>
              <a:rPr lang="ru-RU" sz="18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ru-RU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создание всего пути в этой форме</a:t>
            </a:r>
            <a:endParaRPr lang="ru-RU"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None/>
            </a:pPr>
            <a:r>
              <a:rPr lang="en-US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800" b="0" i="0" u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mkdir</a:t>
            </a:r>
            <a:r>
              <a:rPr lang="en-US" sz="18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/home/stud/</a:t>
            </a:r>
            <a:r>
              <a:rPr lang="en-US" sz="1800" b="0" i="0" u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tst</a:t>
            </a:r>
            <a:r>
              <a:rPr lang="en-US" sz="1800" b="1" i="0" u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-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создание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каталога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с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абсолютным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именем</a:t>
            </a:r>
            <a:endParaRPr lang="en-US" sz="18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None/>
            </a:pPr>
            <a:endParaRPr lang="en-US" sz="18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None/>
            </a:pPr>
            <a:r>
              <a:rPr lang="en-US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touch *.txt</a:t>
            </a:r>
            <a:endParaRPr dirty="0"/>
          </a:p>
        </p:txBody>
      </p:sp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D7F505AD-EAEF-430E-9975-CD67E803DA4E}"/>
              </a:ext>
            </a:extLst>
          </p:cNvPr>
          <p:cNvSpPr/>
          <p:nvPr/>
        </p:nvSpPr>
        <p:spPr>
          <a:xfrm>
            <a:off x="2507530" y="4845225"/>
            <a:ext cx="980388" cy="199075"/>
          </a:xfrm>
          <a:custGeom>
            <a:avLst/>
            <a:gdLst>
              <a:gd name="connsiteX0" fmla="*/ 0 w 980388"/>
              <a:gd name="connsiteY0" fmla="*/ 9579 h 199075"/>
              <a:gd name="connsiteX1" fmla="*/ 84841 w 980388"/>
              <a:gd name="connsiteY1" fmla="*/ 152 h 199075"/>
              <a:gd name="connsiteX2" fmla="*/ 584462 w 980388"/>
              <a:gd name="connsiteY2" fmla="*/ 66140 h 199075"/>
              <a:gd name="connsiteX3" fmla="*/ 650449 w 980388"/>
              <a:gd name="connsiteY3" fmla="*/ 103847 h 199075"/>
              <a:gd name="connsiteX4" fmla="*/ 678730 w 980388"/>
              <a:gd name="connsiteY4" fmla="*/ 122701 h 199075"/>
              <a:gd name="connsiteX5" fmla="*/ 716437 w 980388"/>
              <a:gd name="connsiteY5" fmla="*/ 141554 h 199075"/>
              <a:gd name="connsiteX6" fmla="*/ 772998 w 980388"/>
              <a:gd name="connsiteY6" fmla="*/ 179262 h 199075"/>
              <a:gd name="connsiteX7" fmla="*/ 980388 w 980388"/>
              <a:gd name="connsiteY7" fmla="*/ 198115 h 19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0388" h="199075">
                <a:moveTo>
                  <a:pt x="0" y="9579"/>
                </a:moveTo>
                <a:cubicBezTo>
                  <a:pt x="28280" y="6437"/>
                  <a:pt x="56417" y="-1170"/>
                  <a:pt x="84841" y="152"/>
                </a:cubicBezTo>
                <a:cubicBezTo>
                  <a:pt x="369128" y="13375"/>
                  <a:pt x="355580" y="17955"/>
                  <a:pt x="584462" y="66140"/>
                </a:cubicBezTo>
                <a:cubicBezTo>
                  <a:pt x="653356" y="112071"/>
                  <a:pt x="566736" y="56012"/>
                  <a:pt x="650449" y="103847"/>
                </a:cubicBezTo>
                <a:cubicBezTo>
                  <a:pt x="660286" y="109468"/>
                  <a:pt x="668893" y="117080"/>
                  <a:pt x="678730" y="122701"/>
                </a:cubicBezTo>
                <a:cubicBezTo>
                  <a:pt x="690931" y="129673"/>
                  <a:pt x="704387" y="134324"/>
                  <a:pt x="716437" y="141554"/>
                </a:cubicBezTo>
                <a:cubicBezTo>
                  <a:pt x="735867" y="153212"/>
                  <a:pt x="750779" y="174818"/>
                  <a:pt x="772998" y="179262"/>
                </a:cubicBezTo>
                <a:cubicBezTo>
                  <a:pt x="904241" y="205510"/>
                  <a:pt x="835221" y="198115"/>
                  <a:pt x="980388" y="19811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F646CF08-A352-4809-973B-5B24016014F7}"/>
              </a:ext>
            </a:extLst>
          </p:cNvPr>
          <p:cNvSpPr/>
          <p:nvPr/>
        </p:nvSpPr>
        <p:spPr>
          <a:xfrm>
            <a:off x="4015819" y="4685122"/>
            <a:ext cx="480767" cy="490193"/>
          </a:xfrm>
          <a:custGeom>
            <a:avLst/>
            <a:gdLst>
              <a:gd name="connsiteX0" fmla="*/ 480767 w 480767"/>
              <a:gd name="connsiteY0" fmla="*/ 0 h 490193"/>
              <a:gd name="connsiteX1" fmla="*/ 414779 w 480767"/>
              <a:gd name="connsiteY1" fmla="*/ 18853 h 490193"/>
              <a:gd name="connsiteX2" fmla="*/ 329938 w 480767"/>
              <a:gd name="connsiteY2" fmla="*/ 94268 h 490193"/>
              <a:gd name="connsiteX3" fmla="*/ 292230 w 480767"/>
              <a:gd name="connsiteY3" fmla="*/ 169682 h 490193"/>
              <a:gd name="connsiteX4" fmla="*/ 254523 w 480767"/>
              <a:gd name="connsiteY4" fmla="*/ 197963 h 490193"/>
              <a:gd name="connsiteX5" fmla="*/ 216816 w 480767"/>
              <a:gd name="connsiteY5" fmla="*/ 263950 h 490193"/>
              <a:gd name="connsiteX6" fmla="*/ 188536 w 480767"/>
              <a:gd name="connsiteY6" fmla="*/ 292231 h 490193"/>
              <a:gd name="connsiteX7" fmla="*/ 169682 w 480767"/>
              <a:gd name="connsiteY7" fmla="*/ 320511 h 490193"/>
              <a:gd name="connsiteX8" fmla="*/ 113121 w 480767"/>
              <a:gd name="connsiteY8" fmla="*/ 377072 h 490193"/>
              <a:gd name="connsiteX9" fmla="*/ 56560 w 480767"/>
              <a:gd name="connsiteY9" fmla="*/ 424206 h 490193"/>
              <a:gd name="connsiteX10" fmla="*/ 47134 w 480767"/>
              <a:gd name="connsiteY10" fmla="*/ 452486 h 490193"/>
              <a:gd name="connsiteX11" fmla="*/ 18853 w 480767"/>
              <a:gd name="connsiteY11" fmla="*/ 471340 h 490193"/>
              <a:gd name="connsiteX12" fmla="*/ 0 w 480767"/>
              <a:gd name="connsiteY12" fmla="*/ 490193 h 49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80767" h="490193">
                <a:moveTo>
                  <a:pt x="480767" y="0"/>
                </a:moveTo>
                <a:cubicBezTo>
                  <a:pt x="458771" y="6284"/>
                  <a:pt x="433280" y="5398"/>
                  <a:pt x="414779" y="18853"/>
                </a:cubicBezTo>
                <a:cubicBezTo>
                  <a:pt x="256486" y="133975"/>
                  <a:pt x="481154" y="33780"/>
                  <a:pt x="329938" y="94268"/>
                </a:cubicBezTo>
                <a:cubicBezTo>
                  <a:pt x="320935" y="116775"/>
                  <a:pt x="311058" y="150854"/>
                  <a:pt x="292230" y="169682"/>
                </a:cubicBezTo>
                <a:cubicBezTo>
                  <a:pt x="281120" y="180792"/>
                  <a:pt x="267092" y="188536"/>
                  <a:pt x="254523" y="197963"/>
                </a:cubicBezTo>
                <a:cubicBezTo>
                  <a:pt x="242995" y="221019"/>
                  <a:pt x="233474" y="243960"/>
                  <a:pt x="216816" y="263950"/>
                </a:cubicBezTo>
                <a:cubicBezTo>
                  <a:pt x="208281" y="274192"/>
                  <a:pt x="197071" y="281989"/>
                  <a:pt x="188536" y="292231"/>
                </a:cubicBezTo>
                <a:cubicBezTo>
                  <a:pt x="181283" y="300935"/>
                  <a:pt x="177209" y="312043"/>
                  <a:pt x="169682" y="320511"/>
                </a:cubicBezTo>
                <a:cubicBezTo>
                  <a:pt x="151968" y="340439"/>
                  <a:pt x="131975" y="358218"/>
                  <a:pt x="113121" y="377072"/>
                </a:cubicBezTo>
                <a:cubicBezTo>
                  <a:pt x="76830" y="413363"/>
                  <a:pt x="95933" y="397957"/>
                  <a:pt x="56560" y="424206"/>
                </a:cubicBezTo>
                <a:cubicBezTo>
                  <a:pt x="53418" y="433633"/>
                  <a:pt x="53341" y="444727"/>
                  <a:pt x="47134" y="452486"/>
                </a:cubicBezTo>
                <a:cubicBezTo>
                  <a:pt x="40056" y="461333"/>
                  <a:pt x="27700" y="464262"/>
                  <a:pt x="18853" y="471340"/>
                </a:cubicBezTo>
                <a:cubicBezTo>
                  <a:pt x="11913" y="476892"/>
                  <a:pt x="6284" y="483909"/>
                  <a:pt x="0" y="49019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A9AC3D46-545A-41C1-A489-446A83C88FB3}"/>
              </a:ext>
            </a:extLst>
          </p:cNvPr>
          <p:cNvSpPr/>
          <p:nvPr/>
        </p:nvSpPr>
        <p:spPr>
          <a:xfrm>
            <a:off x="4784077" y="4732583"/>
            <a:ext cx="320537" cy="509048"/>
          </a:xfrm>
          <a:custGeom>
            <a:avLst/>
            <a:gdLst>
              <a:gd name="connsiteX0" fmla="*/ 320537 w 320537"/>
              <a:gd name="connsiteY0" fmla="*/ 0 h 509048"/>
              <a:gd name="connsiteX1" fmla="*/ 263976 w 320537"/>
              <a:gd name="connsiteY1" fmla="*/ 113122 h 509048"/>
              <a:gd name="connsiteX2" fmla="*/ 226269 w 320537"/>
              <a:gd name="connsiteY2" fmla="*/ 150829 h 509048"/>
              <a:gd name="connsiteX3" fmla="*/ 197988 w 320537"/>
              <a:gd name="connsiteY3" fmla="*/ 207390 h 509048"/>
              <a:gd name="connsiteX4" fmla="*/ 150854 w 320537"/>
              <a:gd name="connsiteY4" fmla="*/ 263951 h 509048"/>
              <a:gd name="connsiteX5" fmla="*/ 132001 w 320537"/>
              <a:gd name="connsiteY5" fmla="*/ 301658 h 509048"/>
              <a:gd name="connsiteX6" fmla="*/ 103720 w 320537"/>
              <a:gd name="connsiteY6" fmla="*/ 320512 h 509048"/>
              <a:gd name="connsiteX7" fmla="*/ 75440 w 320537"/>
              <a:gd name="connsiteY7" fmla="*/ 348792 h 509048"/>
              <a:gd name="connsiteX8" fmla="*/ 47159 w 320537"/>
              <a:gd name="connsiteY8" fmla="*/ 405353 h 509048"/>
              <a:gd name="connsiteX9" fmla="*/ 28306 w 320537"/>
              <a:gd name="connsiteY9" fmla="*/ 443060 h 509048"/>
              <a:gd name="connsiteX10" fmla="*/ 9452 w 320537"/>
              <a:gd name="connsiteY10" fmla="*/ 471341 h 509048"/>
              <a:gd name="connsiteX11" fmla="*/ 25 w 320537"/>
              <a:gd name="connsiteY11" fmla="*/ 509048 h 509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0537" h="509048">
                <a:moveTo>
                  <a:pt x="320537" y="0"/>
                </a:moveTo>
                <a:cubicBezTo>
                  <a:pt x="308505" y="27071"/>
                  <a:pt x="288912" y="84030"/>
                  <a:pt x="263976" y="113122"/>
                </a:cubicBezTo>
                <a:cubicBezTo>
                  <a:pt x="252408" y="126618"/>
                  <a:pt x="237837" y="137333"/>
                  <a:pt x="226269" y="150829"/>
                </a:cubicBezTo>
                <a:cubicBezTo>
                  <a:pt x="193851" y="188650"/>
                  <a:pt x="218060" y="167246"/>
                  <a:pt x="197988" y="207390"/>
                </a:cubicBezTo>
                <a:cubicBezTo>
                  <a:pt x="184862" y="233642"/>
                  <a:pt x="171706" y="243100"/>
                  <a:pt x="150854" y="263951"/>
                </a:cubicBezTo>
                <a:cubicBezTo>
                  <a:pt x="144570" y="276520"/>
                  <a:pt x="140997" y="290863"/>
                  <a:pt x="132001" y="301658"/>
                </a:cubicBezTo>
                <a:cubicBezTo>
                  <a:pt x="124748" y="310362"/>
                  <a:pt x="112424" y="313259"/>
                  <a:pt x="103720" y="320512"/>
                </a:cubicBezTo>
                <a:cubicBezTo>
                  <a:pt x="93479" y="329046"/>
                  <a:pt x="84867" y="339365"/>
                  <a:pt x="75440" y="348792"/>
                </a:cubicBezTo>
                <a:cubicBezTo>
                  <a:pt x="58155" y="400646"/>
                  <a:pt x="76399" y="354183"/>
                  <a:pt x="47159" y="405353"/>
                </a:cubicBezTo>
                <a:cubicBezTo>
                  <a:pt x="40187" y="417554"/>
                  <a:pt x="35278" y="430859"/>
                  <a:pt x="28306" y="443060"/>
                </a:cubicBezTo>
                <a:cubicBezTo>
                  <a:pt x="22685" y="452897"/>
                  <a:pt x="14519" y="461207"/>
                  <a:pt x="9452" y="471341"/>
                </a:cubicBezTo>
                <a:cubicBezTo>
                  <a:pt x="-969" y="492182"/>
                  <a:pt x="25" y="492980"/>
                  <a:pt x="25" y="50904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808D9D34-3EC5-4E1E-9EA9-E19FD81ABDF9}"/>
              </a:ext>
            </a:extLst>
          </p:cNvPr>
          <p:cNvSpPr/>
          <p:nvPr/>
        </p:nvSpPr>
        <p:spPr>
          <a:xfrm>
            <a:off x="5712643" y="4845225"/>
            <a:ext cx="678730" cy="330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Просмотр содержимого каталога</a:t>
            </a:r>
            <a:endParaRPr/>
          </a:p>
        </p:txBody>
      </p:sp>
      <p:sp>
        <p:nvSpPr>
          <p:cNvPr id="355" name="Google Shape;355;p22"/>
          <p:cNvSpPr txBox="1"/>
          <p:nvPr/>
        </p:nvSpPr>
        <p:spPr>
          <a:xfrm>
            <a:off x="1042987" y="2133600"/>
            <a:ext cx="7270750" cy="3903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Список файлов текущего каталога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ls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file1   file2    dir1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Список файлов указанного каталога /u/user01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ls -F</a:t>
            </a:r>
            <a:r>
              <a:rPr lang="en-US" sz="20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/u/user01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file1   file2*   dir1/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lang="en-US" sz="18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    *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программы (исполнимые файлы)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lang="en-US" sz="18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/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каталоги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</a:t>
            </a:r>
            <a:r>
              <a:rPr lang="en-US" sz="18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@, &amp;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ссылки на другие файлы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lang="en-US" sz="18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|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FIFO файл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lang="en-US" sz="18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пробел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простой файл</a:t>
            </a:r>
            <a:endParaRPr/>
          </a:p>
        </p:txBody>
      </p:sp>
      <p:sp>
        <p:nvSpPr>
          <p:cNvPr id="356" name="Google Shape;356;p22"/>
          <p:cNvSpPr txBox="1"/>
          <p:nvPr/>
        </p:nvSpPr>
        <p:spPr>
          <a:xfrm>
            <a:off x="1979612" y="1557337"/>
            <a:ext cx="39846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ls [-ключи] [имя_каталога]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3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Просмотр содержимого каталога</a:t>
            </a:r>
            <a:endParaRPr/>
          </a:p>
        </p:txBody>
      </p:sp>
      <p:sp>
        <p:nvSpPr>
          <p:cNvPr id="364" name="Google Shape;364;p23"/>
          <p:cNvSpPr txBox="1"/>
          <p:nvPr/>
        </p:nvSpPr>
        <p:spPr>
          <a:xfrm>
            <a:off x="1066800" y="1828800"/>
            <a:ext cx="7467600" cy="152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Расширенный вывод каталога /home/stud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ls –l /home/stud</a:t>
            </a:r>
            <a:r>
              <a:rPr lang="en-US" sz="20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US" sz="18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-rwxr-xr-x  1  user01  is    512  Apr 16 10:46 file1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US" sz="18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-rw-r--r-x  1  user01  is   1320  Apr 11 17:02 file2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US" sz="18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drw-r--r-x  1  user01  is   8096  Apr 11 17:02 dir1</a:t>
            </a:r>
            <a:endParaRPr/>
          </a:p>
        </p:txBody>
      </p:sp>
      <p:sp>
        <p:nvSpPr>
          <p:cNvPr id="365" name="Google Shape;365;p23"/>
          <p:cNvSpPr txBox="1"/>
          <p:nvPr/>
        </p:nvSpPr>
        <p:spPr>
          <a:xfrm>
            <a:off x="838200" y="3505200"/>
            <a:ext cx="781050" cy="6508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Тип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файла</a:t>
            </a:r>
            <a:endParaRPr/>
          </a:p>
        </p:txBody>
      </p:sp>
      <p:sp>
        <p:nvSpPr>
          <p:cNvPr id="366" name="Google Shape;366;p23"/>
          <p:cNvSpPr txBox="1"/>
          <p:nvPr/>
        </p:nvSpPr>
        <p:spPr>
          <a:xfrm>
            <a:off x="2419350" y="3505200"/>
            <a:ext cx="890587" cy="6508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Число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ссылок</a:t>
            </a:r>
            <a:endParaRPr/>
          </a:p>
        </p:txBody>
      </p:sp>
      <p:sp>
        <p:nvSpPr>
          <p:cNvPr id="367" name="Google Shape;367;p23"/>
          <p:cNvSpPr txBox="1"/>
          <p:nvPr/>
        </p:nvSpPr>
        <p:spPr>
          <a:xfrm>
            <a:off x="4114800" y="3505200"/>
            <a:ext cx="914400" cy="6508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Имя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группы</a:t>
            </a:r>
            <a:endParaRPr/>
          </a:p>
        </p:txBody>
      </p:sp>
      <p:sp>
        <p:nvSpPr>
          <p:cNvPr id="368" name="Google Shape;368;p23"/>
          <p:cNvSpPr txBox="1"/>
          <p:nvPr/>
        </p:nvSpPr>
        <p:spPr>
          <a:xfrm>
            <a:off x="6248400" y="3657600"/>
            <a:ext cx="831850" cy="6508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Дата и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время</a:t>
            </a:r>
            <a:endParaRPr/>
          </a:p>
        </p:txBody>
      </p:sp>
      <p:sp>
        <p:nvSpPr>
          <p:cNvPr id="369" name="Google Shape;369;p23"/>
          <p:cNvSpPr txBox="1"/>
          <p:nvPr/>
        </p:nvSpPr>
        <p:spPr>
          <a:xfrm>
            <a:off x="1371600" y="4343400"/>
            <a:ext cx="963612" cy="6508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Права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доступа</a:t>
            </a:r>
            <a:endParaRPr/>
          </a:p>
        </p:txBody>
      </p:sp>
      <p:sp>
        <p:nvSpPr>
          <p:cNvPr id="370" name="Google Shape;370;p23"/>
          <p:cNvSpPr txBox="1"/>
          <p:nvPr/>
        </p:nvSpPr>
        <p:spPr>
          <a:xfrm>
            <a:off x="3048000" y="4343400"/>
            <a:ext cx="1484312" cy="6508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Имя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пользователя</a:t>
            </a:r>
            <a:endParaRPr/>
          </a:p>
        </p:txBody>
      </p:sp>
      <p:sp>
        <p:nvSpPr>
          <p:cNvPr id="371" name="Google Shape;371;p23"/>
          <p:cNvSpPr txBox="1"/>
          <p:nvPr/>
        </p:nvSpPr>
        <p:spPr>
          <a:xfrm>
            <a:off x="4953000" y="4343400"/>
            <a:ext cx="873125" cy="3762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Размер</a:t>
            </a:r>
            <a:endParaRPr/>
          </a:p>
        </p:txBody>
      </p:sp>
      <p:sp>
        <p:nvSpPr>
          <p:cNvPr id="372" name="Google Shape;372;p23"/>
          <p:cNvSpPr txBox="1"/>
          <p:nvPr/>
        </p:nvSpPr>
        <p:spPr>
          <a:xfrm>
            <a:off x="7543800" y="4191000"/>
            <a:ext cx="781050" cy="6508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Имя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файла</a:t>
            </a:r>
            <a:endParaRPr/>
          </a:p>
        </p:txBody>
      </p:sp>
      <p:cxnSp>
        <p:nvCxnSpPr>
          <p:cNvPr id="373" name="Google Shape;373;p23"/>
          <p:cNvCxnSpPr/>
          <p:nvPr/>
        </p:nvCxnSpPr>
        <p:spPr>
          <a:xfrm rot="10800000">
            <a:off x="1905000" y="3429000"/>
            <a:ext cx="0" cy="91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74" name="Google Shape;374;p23"/>
          <p:cNvCxnSpPr/>
          <p:nvPr/>
        </p:nvCxnSpPr>
        <p:spPr>
          <a:xfrm rot="10800000">
            <a:off x="3733800" y="3276600"/>
            <a:ext cx="0" cy="106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75" name="Google Shape;375;p23"/>
          <p:cNvCxnSpPr/>
          <p:nvPr/>
        </p:nvCxnSpPr>
        <p:spPr>
          <a:xfrm rot="10800000">
            <a:off x="5410200" y="3276600"/>
            <a:ext cx="0" cy="106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76" name="Google Shape;376;p23"/>
          <p:cNvCxnSpPr/>
          <p:nvPr/>
        </p:nvCxnSpPr>
        <p:spPr>
          <a:xfrm rot="10800000">
            <a:off x="7943850" y="3276600"/>
            <a:ext cx="0" cy="91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377" name="Google Shape;377;p23"/>
          <p:cNvSpPr/>
          <p:nvPr/>
        </p:nvSpPr>
        <p:spPr>
          <a:xfrm rot="-5400000">
            <a:off x="1828800" y="2743200"/>
            <a:ext cx="152400" cy="12192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8" name="Google Shape;378;p23"/>
          <p:cNvCxnSpPr/>
          <p:nvPr/>
        </p:nvCxnSpPr>
        <p:spPr>
          <a:xfrm rot="10800000">
            <a:off x="1219200" y="3276600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79" name="Google Shape;379;p23"/>
          <p:cNvCxnSpPr/>
          <p:nvPr/>
        </p:nvCxnSpPr>
        <p:spPr>
          <a:xfrm rot="10800000">
            <a:off x="2895600" y="3276600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80" name="Google Shape;380;p23"/>
          <p:cNvCxnSpPr/>
          <p:nvPr/>
        </p:nvCxnSpPr>
        <p:spPr>
          <a:xfrm rot="10800000">
            <a:off x="4495800" y="3276600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81" name="Google Shape;381;p23"/>
          <p:cNvCxnSpPr/>
          <p:nvPr/>
        </p:nvCxnSpPr>
        <p:spPr>
          <a:xfrm rot="10800000">
            <a:off x="6629400" y="3429000"/>
            <a:ext cx="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382" name="Google Shape;382;p23"/>
          <p:cNvSpPr/>
          <p:nvPr/>
        </p:nvSpPr>
        <p:spPr>
          <a:xfrm rot="-5400000">
            <a:off x="6524625" y="2486025"/>
            <a:ext cx="209550" cy="16764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4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Удаление каталога</a:t>
            </a:r>
            <a:endParaRPr/>
          </a:p>
        </p:txBody>
      </p:sp>
      <p:sp>
        <p:nvSpPr>
          <p:cNvPr id="390" name="Google Shape;390;p24"/>
          <p:cNvSpPr txBox="1"/>
          <p:nvPr/>
        </p:nvSpPr>
        <p:spPr>
          <a:xfrm>
            <a:off x="838200" y="2057400"/>
            <a:ext cx="7924800" cy="356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rmdir  [-p] каталог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Удаляет пустые каталоги или деревья (-p)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rmdir /abc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rmdir –p /int/mom/tmp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rm [-irv] каталог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Удаляет файлы из указанных каталогов и сами каталоги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-i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вывод запроса на удаление файлов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-r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удаление всех подкаталогов (рекурсивное удаление)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-v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вывод списка удаленных файлов</a:t>
            </a: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rm -r /temp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5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Создание и редактирование файлов</a:t>
            </a:r>
            <a:endParaRPr/>
          </a:p>
        </p:txBody>
      </p:sp>
      <p:sp>
        <p:nvSpPr>
          <p:cNvPr id="398" name="Google Shape;398;p25"/>
          <p:cNvSpPr txBox="1"/>
          <p:nvPr/>
        </p:nvSpPr>
        <p:spPr>
          <a:xfrm>
            <a:off x="656735" y="2762054"/>
            <a:ext cx="8001000" cy="1846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ed [</a:t>
            </a:r>
            <a:r>
              <a:rPr lang="en-US" sz="2400" b="0" i="0" u="none" dirty="0" err="1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файл</a:t>
            </a:r>
            <a:r>
              <a:rPr lang="en-US" sz="24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20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–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встроенный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текстовый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редактор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shell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vi [</a:t>
            </a:r>
            <a:r>
              <a:rPr lang="en-US" sz="2400" b="0" i="0" u="none" dirty="0" err="1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файл</a:t>
            </a:r>
            <a:r>
              <a:rPr lang="en-US" sz="24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20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–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встроенный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текстовый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редактор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shell </a:t>
            </a:r>
            <a:endParaRPr lang="ru-RU" sz="20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</a:t>
            </a:r>
            <a:r>
              <a:rPr lang="ru-RU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переход в режим </a:t>
            </a:r>
            <a:r>
              <a:rPr lang="ru-RU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редактировани</a:t>
            </a:r>
            <a:endParaRPr lang="ru-RU" sz="20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Esc – </a:t>
            </a:r>
            <a:r>
              <a:rPr lang="ru-RU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выход из режима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ZZ – </a:t>
            </a:r>
            <a:r>
              <a:rPr lang="ru-RU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соханение</a:t>
            </a:r>
            <a:r>
              <a:rPr lang="ru-RU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и выход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ru-RU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Начать писать с 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shift </a:t>
            </a:r>
            <a:r>
              <a:rPr lang="ru-RU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внизу </a:t>
            </a:r>
            <a:r>
              <a:rPr lang="ru-RU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нужноввести</a:t>
            </a:r>
            <a:r>
              <a:rPr lang="ru-RU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команду 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q! </a:t>
            </a:r>
            <a:r>
              <a:rPr lang="ru-RU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Для выхода без сохранения.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 dirty="0" err="1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сat</a:t>
            </a:r>
            <a:r>
              <a:rPr lang="en-US" sz="24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 &gt; </a:t>
            </a:r>
            <a:r>
              <a:rPr lang="en-US" sz="2400" b="0" i="0" u="none" dirty="0" err="1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файл</a:t>
            </a:r>
            <a:r>
              <a:rPr lang="en-US" sz="20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–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ввод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с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консоли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(Ctrl-D –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завершить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ввод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6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Вывод текстовых файлов</a:t>
            </a:r>
            <a:endParaRPr/>
          </a:p>
        </p:txBody>
      </p:sp>
      <p:sp>
        <p:nvSpPr>
          <p:cNvPr id="406" name="Google Shape;406;p26"/>
          <p:cNvSpPr txBox="1"/>
          <p:nvPr/>
        </p:nvSpPr>
        <p:spPr>
          <a:xfrm>
            <a:off x="685800" y="1752600"/>
            <a:ext cx="8153400" cy="37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 dirty="0" err="1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сat</a:t>
            </a:r>
            <a:r>
              <a:rPr lang="en-US" sz="24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lang="en-US" sz="2400" b="0" i="0" u="none" dirty="0" err="1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файл</a:t>
            </a:r>
            <a:r>
              <a:rPr lang="en-US" sz="24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 [</a:t>
            </a:r>
            <a:r>
              <a:rPr lang="en-US" sz="2400" b="0" i="0" u="none" dirty="0" err="1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файл</a:t>
            </a:r>
            <a:r>
              <a:rPr lang="en-US" sz="24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 …]</a:t>
            </a:r>
            <a:r>
              <a:rPr lang="en-US" sz="20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для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просмотра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файлов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из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нескольких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строк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Управляющие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действия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lang="en-US" sz="20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Ctrl-s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приостановка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0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Ctrl-q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-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возобновление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вывода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endParaRPr sz="1400" b="0" i="0" u="none" dirty="0">
              <a:solidFill>
                <a:srgbClr val="FFCC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more </a:t>
            </a:r>
            <a:r>
              <a:rPr lang="en-US" sz="2400" b="0" i="0" u="none" dirty="0" err="1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файл</a:t>
            </a:r>
            <a:r>
              <a:rPr lang="en-US" sz="20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постраничный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просмотр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больших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файлов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Управляющие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действия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lang="en-US" sz="20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 dirty="0" err="1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Пробел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переход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на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следующую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страницу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Enter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сдвиг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вперед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на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одну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строку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возврат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на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предыдущую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страницу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обращение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за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подсказкой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или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Ctrl-c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выход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в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режим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командной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строки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7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Удаление файла</a:t>
            </a:r>
            <a:endParaRPr/>
          </a:p>
        </p:txBody>
      </p:sp>
      <p:sp>
        <p:nvSpPr>
          <p:cNvPr id="414" name="Google Shape;414;p27"/>
          <p:cNvSpPr txBox="1"/>
          <p:nvPr/>
        </p:nvSpPr>
        <p:spPr>
          <a:xfrm>
            <a:off x="850392" y="1917192"/>
            <a:ext cx="79248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 dirty="0" err="1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rm</a:t>
            </a:r>
            <a:r>
              <a:rPr lang="en-US" sz="24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  [-iv] </a:t>
            </a:r>
            <a:r>
              <a:rPr lang="en-US" sz="2400" b="0" i="0" u="none" dirty="0" err="1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файл</a:t>
            </a:r>
            <a:r>
              <a:rPr lang="en-US" sz="24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 [</a:t>
            </a:r>
            <a:r>
              <a:rPr lang="en-US" sz="2400" b="0" i="0" u="none" dirty="0" err="1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файл</a:t>
            </a:r>
            <a:r>
              <a:rPr lang="en-US" sz="2400" b="0" i="0" u="none" dirty="0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…]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lang="en-US" sz="2000" b="0" i="0" u="none" dirty="0" err="1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вывод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запроса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на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удаление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файлов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-v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вывод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списка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удаленных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файлов</a:t>
            </a:r>
            <a:r>
              <a:rPr lang="en-US" sz="20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lang="en-US" sz="20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2000" b="0" i="0" u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rm</a:t>
            </a:r>
            <a:r>
              <a:rPr lang="en-US" sz="20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file1 file2 file3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lang="en-US" sz="20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2000" b="0" i="0" u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rm</a:t>
            </a:r>
            <a:r>
              <a:rPr lang="en-US" sz="20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–</a:t>
            </a:r>
            <a:r>
              <a:rPr lang="en-US" sz="2000" b="0" i="0" u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0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file?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lang="en-US" sz="2000" b="0" i="0" u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8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Копирование файлов и каталогов</a:t>
            </a:r>
            <a:endParaRPr/>
          </a:p>
        </p:txBody>
      </p:sp>
      <p:sp>
        <p:nvSpPr>
          <p:cNvPr id="422" name="Google Shape;422;p28"/>
          <p:cNvSpPr txBox="1"/>
          <p:nvPr/>
        </p:nvSpPr>
        <p:spPr>
          <a:xfrm>
            <a:off x="1295400" y="1752600"/>
            <a:ext cx="7102475" cy="390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Копирование файлов в текущем каталоге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cp [-ключи] файл1 файл2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cp file1 file2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>
              <a:solidFill>
                <a:srgbClr val="FFCC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Копирование файлов в другой каталог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cp [-ключи] файл [файл…] каталог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cp file1 file2 ~/dir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cp –i file1 /dir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US" sz="18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overwrite dir/file1? n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>
              <a:solidFill>
                <a:srgbClr val="FFCC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Копирование каталога в другой каталог</a:t>
            </a: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cp [-ключи] каталог1 каталог2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cp –r ~/dir /tmp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9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Перемещение и переименование файлов и каталогов</a:t>
            </a:r>
            <a:endParaRPr/>
          </a:p>
        </p:txBody>
      </p:sp>
      <p:sp>
        <p:nvSpPr>
          <p:cNvPr id="430" name="Google Shape;430;p29"/>
          <p:cNvSpPr txBox="1"/>
          <p:nvPr/>
        </p:nvSpPr>
        <p:spPr>
          <a:xfrm>
            <a:off x="1371600" y="1524000"/>
            <a:ext cx="7086600" cy="4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Переименование файла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mv [-ключи] файл1 файл2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mv file1 file3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endParaRPr sz="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Перемещение файла в другой каталог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mv [-ключи] файл [файл…] каталог</a:t>
            </a: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mv file3 dir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endParaRPr sz="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Переименование каталога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mv [-ключи] каталог1 каталог2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mv dir katalog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</a:pPr>
            <a:endParaRPr sz="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Перемещение каталога в другой каталог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mv [-ключи] каталог1 каталог2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$ mv –r dir katalog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Выборка столбцов файла</a:t>
            </a:r>
            <a:endParaRPr/>
          </a:p>
        </p:txBody>
      </p:sp>
      <p:sp>
        <p:nvSpPr>
          <p:cNvPr id="479" name="Google Shape;479;p32"/>
          <p:cNvSpPr txBox="1"/>
          <p:nvPr/>
        </p:nvSpPr>
        <p:spPr>
          <a:xfrm>
            <a:off x="914400" y="2062162"/>
            <a:ext cx="7239000" cy="345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Times New Roman"/>
              <a:buNone/>
            </a:pPr>
            <a:endParaRPr sz="500" b="1" i="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сut –c список файл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 sz="1200" b="0" i="0" u="none">
              <a:solidFill>
                <a:srgbClr val="FFCC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$ cat tabl1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Ivan   578  mosсow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 Peter  435  newyork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Sasha  734  orel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$ cut –c 1, 3, 4, 5, 16-22 tabl1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1Ivamoscow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2Petnewyork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3Sasorel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3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Поиск контекста в файле</a:t>
            </a:r>
            <a:endParaRPr/>
          </a:p>
        </p:txBody>
      </p:sp>
      <p:sp>
        <p:nvSpPr>
          <p:cNvPr id="487" name="Google Shape;487;p33"/>
          <p:cNvSpPr txBox="1"/>
          <p:nvPr/>
        </p:nvSpPr>
        <p:spPr>
          <a:xfrm>
            <a:off x="990600" y="2057400"/>
            <a:ext cx="7367587" cy="392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grep [-ключи] шаблон [файл]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egrep [-ключи] шаблон [файл]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>
              <a:solidFill>
                <a:srgbClr val="FFCC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-c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вывести количество найденных строк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-v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вывести строки, не удовлетворяющие условию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-i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игнорировать различие между прописными и строчными </a:t>
            </a:r>
            <a:endParaRPr/>
          </a:p>
          <a:p>
            <a:pPr marL="190500" marR="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символами</a:t>
            </a:r>
            <a:endParaRPr/>
          </a:p>
          <a:p>
            <a:pPr marL="190500" marR="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90500" marR="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grep linux docs.txt</a:t>
            </a:r>
            <a:endParaRPr/>
          </a:p>
          <a:p>
            <a:pPr marL="190500" marR="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grep –ci ’Red Hat Linux’ docs.txt</a:t>
            </a:r>
            <a:endParaRPr/>
          </a:p>
          <a:p>
            <a:pPr marL="190500" marR="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grep ’get|put|print|write’ docs.txt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4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Поиск контекста в файле</a:t>
            </a:r>
            <a:endParaRPr/>
          </a:p>
        </p:txBody>
      </p:sp>
      <p:sp>
        <p:nvSpPr>
          <p:cNvPr id="495" name="Google Shape;495;p34"/>
          <p:cNvSpPr txBox="1"/>
          <p:nvPr/>
        </p:nvSpPr>
        <p:spPr>
          <a:xfrm>
            <a:off x="990600" y="1828800"/>
            <a:ext cx="7696200" cy="429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Специальные символы шаблона: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любой произвольный символ 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предыдущий символ повторить любое число раз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.*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любая последовательность символов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^шаблон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привязка шаблона к началу строки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шаблон$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привязка шаблона к концу строки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ahoma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[символы]</a:t>
            </a:r>
            <a:r>
              <a:rPr lang="en-US"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взять ровно один символ из списка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endParaRPr sz="10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grep ’^a.*z$’ docs.txt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grep ’^[aA]$’ docs.txt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grep ’\$1\.00’ price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68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5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Поиск файлов по запросу</a:t>
            </a:r>
            <a:endParaRPr/>
          </a:p>
        </p:txBody>
      </p:sp>
      <p:sp>
        <p:nvSpPr>
          <p:cNvPr id="503" name="Google Shape;503;p35"/>
          <p:cNvSpPr txBox="1"/>
          <p:nvPr/>
        </p:nvSpPr>
        <p:spPr>
          <a:xfrm>
            <a:off x="381000" y="1600200"/>
            <a:ext cx="8523287" cy="430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rgbClr val="FFCC00"/>
                </a:solidFill>
                <a:latin typeface="Tahoma"/>
                <a:ea typeface="Tahoma"/>
                <a:cs typeface="Tahoma"/>
                <a:sym typeface="Tahoma"/>
              </a:rPr>
              <a:t>	find каталог ключи-условия [ключи-действия]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endParaRPr sz="1000" b="0" i="0" u="none">
              <a:solidFill>
                <a:srgbClr val="FFCC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Ключи-условия: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lang="en-US" sz="18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-name шаблон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шаблон имени файла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lang="en-US" sz="18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-type f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брать только обыкновенные файлы (</a:t>
            </a:r>
            <a:r>
              <a:rPr lang="en-US" sz="18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d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только каталоги)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lang="en-US" sz="18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-size +500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файлы размером более 500*512 байт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lang="en-US" sz="18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-mtime –3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файл изменен менее трех дней назад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lang="en-US" sz="18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-atime +3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последний доступ к файлу более трех дней назад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lang="en-US" sz="18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-user имя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файлы, принадлежащие указанному пользователю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lang="en-US" sz="18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-group имя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файлы, принадлежащие пользователям указанной группы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lang="en-US" sz="18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-maxdepth 1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ограничить глубину поиска по вложенным каталогам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Ключи-действия: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lang="en-US" sz="18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-exec команда {} </a:t>
            </a:r>
            <a:r>
              <a:rPr lang="en-US" sz="2000" b="0" i="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\</a:t>
            </a:r>
            <a:r>
              <a:rPr lang="en-US" sz="18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выполнить заданную команду над найденными файлами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</a:pPr>
            <a:endParaRPr sz="900" b="0" i="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find / -name ’*.c’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find /tmp –type f –atime+30 –exec rm {} \;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DE2456-F545-47A5-A4E8-9DBAC407B2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ДЗ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1BF6BA-5B6C-4158-847C-CC4DF3AA6C3F}"/>
              </a:ext>
            </a:extLst>
          </p:cNvPr>
          <p:cNvSpPr txBox="1"/>
          <p:nvPr/>
        </p:nvSpPr>
        <p:spPr>
          <a:xfrm>
            <a:off x="1167414" y="3657600"/>
            <a:ext cx="68091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2">
                    <a:lumMod val="90000"/>
                  </a:schemeClr>
                </a:solidFill>
              </a:rPr>
              <a:t>Вам нужно повторить все команды из презентации и показать пример выполнения, все должно быть в гит </a:t>
            </a:r>
            <a:r>
              <a:rPr lang="ru-RU" sz="2000" dirty="0" err="1">
                <a:solidFill>
                  <a:schemeClr val="bg2">
                    <a:lumMod val="90000"/>
                  </a:schemeClr>
                </a:solidFill>
              </a:rPr>
              <a:t>хабе</a:t>
            </a:r>
            <a:r>
              <a:rPr lang="ru-RU" sz="2000" dirty="0">
                <a:solidFill>
                  <a:schemeClr val="bg2">
                    <a:lumMod val="90000"/>
                  </a:schemeClr>
                </a:solidFill>
              </a:rPr>
              <a:t>, в </a:t>
            </a:r>
            <a:r>
              <a:rPr lang="ru-RU" sz="2000" dirty="0" err="1">
                <a:solidFill>
                  <a:schemeClr val="bg2">
                    <a:lumMod val="90000"/>
                  </a:schemeClr>
                </a:solidFill>
              </a:rPr>
              <a:t>дз</a:t>
            </a:r>
            <a:r>
              <a:rPr lang="ru-RU" sz="2000" dirty="0">
                <a:solidFill>
                  <a:schemeClr val="bg2">
                    <a:lumMod val="90000"/>
                  </a:schemeClr>
                </a:solidFill>
              </a:rPr>
              <a:t> отправляем ссылку на репозиторий.</a:t>
            </a:r>
          </a:p>
        </p:txBody>
      </p:sp>
    </p:spTree>
    <p:extLst>
      <p:ext uri="{BB962C8B-B14F-4D97-AF65-F5344CB8AC3E}">
        <p14:creationId xmlns:p14="http://schemas.microsoft.com/office/powerpoint/2010/main" val="2877202120"/>
      </p:ext>
    </p:extLst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default">
      <a:dk1>
        <a:srgbClr val="FFFFFF"/>
      </a:dk1>
      <a:lt1>
        <a:srgbClr val="0000CC"/>
      </a:lt1>
      <a:dk2>
        <a:srgbClr val="CCFFFF"/>
      </a:dk2>
      <a:lt2>
        <a:srgbClr val="000066"/>
      </a:lt2>
      <a:accent1>
        <a:srgbClr val="CC99FF"/>
      </a:accent1>
      <a:accent2>
        <a:srgbClr val="9999FF"/>
      </a:accent2>
      <a:accent3>
        <a:srgbClr val="0000CC"/>
      </a:accent3>
      <a:accent4>
        <a:srgbClr val="CC99FF"/>
      </a:accent4>
      <a:accent5>
        <a:srgbClr val="9999FF"/>
      </a:accent5>
      <a:accent6>
        <a:srgbClr val="0000CC"/>
      </a:accent6>
      <a:hlink>
        <a:srgbClr val="99CCFF"/>
      </a:hlink>
      <a:folHlink>
        <a:srgbClr val="0066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1320</Words>
  <Application>Microsoft Office PowerPoint</Application>
  <PresentationFormat>Экран (4:3)</PresentationFormat>
  <Paragraphs>230</Paragraphs>
  <Slides>19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Courier New</vt:lpstr>
      <vt:lpstr>Times New Roman</vt:lpstr>
      <vt:lpstr>Verdana</vt:lpstr>
      <vt:lpstr>Tahoma</vt:lpstr>
      <vt:lpstr>Оформление по умолчанию</vt:lpstr>
      <vt:lpstr>Операции с файлами и каталогами Работа с командами</vt:lpstr>
      <vt:lpstr>Типы файлов LINUX</vt:lpstr>
      <vt:lpstr>Пользовательская среда shell</vt:lpstr>
      <vt:lpstr>Обобщенный формат команд shell</vt:lpstr>
      <vt:lpstr>Работа с каталогами</vt:lpstr>
      <vt:lpstr>Создание каталога</vt:lpstr>
      <vt:lpstr>Просмотр содержимого каталога</vt:lpstr>
      <vt:lpstr>Просмотр содержимого каталога</vt:lpstr>
      <vt:lpstr>Удаление каталога</vt:lpstr>
      <vt:lpstr>Создание и редактирование файлов</vt:lpstr>
      <vt:lpstr>Вывод текстовых файлов</vt:lpstr>
      <vt:lpstr>Удаление файла</vt:lpstr>
      <vt:lpstr>Копирование файлов и каталогов</vt:lpstr>
      <vt:lpstr>Перемещение и переименование файлов и каталогов</vt:lpstr>
      <vt:lpstr>Выборка столбцов файла</vt:lpstr>
      <vt:lpstr>Поиск контекста в файле</vt:lpstr>
      <vt:lpstr>Поиск контекста в файле</vt:lpstr>
      <vt:lpstr>Поиск файлов по запросу</vt:lpstr>
      <vt:lpstr>ДЗ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Операции с файлами и каталогами Работа с командами</dc:title>
  <cp:lastModifiedBy>teacher</cp:lastModifiedBy>
  <cp:revision>8</cp:revision>
  <dcterms:modified xsi:type="dcterms:W3CDTF">2026-09-14T19:14:15Z</dcterms:modified>
</cp:coreProperties>
</file>